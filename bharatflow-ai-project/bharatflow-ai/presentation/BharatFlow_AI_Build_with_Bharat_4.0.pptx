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10287000" cx="18288000"/>
  <p:notesSz cx="6858000" cy="9144000"/>
  <p:embeddedFontLst>
    <p:embeddedFont>
      <p:font typeface="Montserrat SemiBold"/>
      <p:regular r:id="rId15"/>
      <p:bold r:id="rId16"/>
      <p:italic r:id="rId17"/>
      <p:boldItalic r:id="rId18"/>
    </p:embeddedFont>
    <p:embeddedFont>
      <p:font typeface="Montserrat"/>
      <p:bold r:id="rId19"/>
      <p:boldItalic r:id="rId20"/>
    </p:embeddedFont>
    <p:embeddedFont>
      <p:font typeface="Montserrat Black"/>
      <p:bold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3" roundtripDataSignature="AMtx7mg8cR+BmbzqaOCf1bmf1L0xYBnE4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5" Type="http://schemas.openxmlformats.org/officeDocument/2006/relationships/font" Target="fonts/MontserratSemiBold-regular.fntdata"/><Relationship Id="rId16" Type="http://schemas.openxmlformats.org/officeDocument/2006/relationships/font" Target="fonts/MontserratSemiBold-bold.fntdata"/><Relationship Id="rId17" Type="http://schemas.openxmlformats.org/officeDocument/2006/relationships/font" Target="fonts/MontserratSemiBold-italic.fntdata"/><Relationship Id="rId18" Type="http://schemas.openxmlformats.org/officeDocument/2006/relationships/font" Target="fonts/MontserratSemiBold-boldItalic.fntdata"/><Relationship Id="rId19" Type="http://schemas.openxmlformats.org/officeDocument/2006/relationships/font" Target="fonts/Montserrat-bold.fntdata"/><Relationship Id="rId20" Type="http://schemas.openxmlformats.org/officeDocument/2006/relationships/font" Target="fonts/Montserrat-boldItalic.fntdata"/><Relationship Id="rId21" Type="http://schemas.openxmlformats.org/officeDocument/2006/relationships/font" Target="fonts/MontserratBlack-bold.fntdata"/><Relationship Id="rId22" Type="http://schemas.openxmlformats.org/officeDocument/2006/relationships/font" Target="fonts/MontserratBlack-boldItalic.fntdata"/><Relationship Id="rId23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4" name="Google Shape;84;p1"/>
          <p:cNvCxnSpPr/>
          <p:nvPr/>
        </p:nvCxnSpPr>
        <p:spPr>
          <a:xfrm>
            <a:off x="1145912" y="6566577"/>
            <a:ext cx="991268" cy="0"/>
          </a:xfrm>
          <a:prstGeom prst="straightConnector1">
            <a:avLst/>
          </a:prstGeom>
          <a:noFill/>
          <a:ln cap="flat" cmpd="sng" w="95250">
            <a:solidFill>
              <a:srgbClr val="FF5C1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5" name="Google Shape;85;p1"/>
          <p:cNvSpPr/>
          <p:nvPr/>
        </p:nvSpPr>
        <p:spPr>
          <a:xfrm>
            <a:off x="4089950" y="0"/>
            <a:ext cx="10287000" cy="10594576"/>
          </a:xfrm>
          <a:custGeom>
            <a:rect b="b" l="l" r="r" t="t"/>
            <a:pathLst>
              <a:path extrusionOk="0" h="10594576" w="10287000">
                <a:moveTo>
                  <a:pt x="0" y="0"/>
                </a:moveTo>
                <a:lnTo>
                  <a:pt x="10287000" y="0"/>
                </a:lnTo>
                <a:lnTo>
                  <a:pt x="10287000" y="10594576"/>
                </a:lnTo>
                <a:lnTo>
                  <a:pt x="0" y="105945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494" r="-1494" t="0"/>
            </a:stretch>
          </a:blipFill>
          <a:ln>
            <a:noFill/>
          </a:ln>
        </p:spPr>
      </p:sp>
      <p:grpSp>
        <p:nvGrpSpPr>
          <p:cNvPr id="86" name="Google Shape;86;p1"/>
          <p:cNvGrpSpPr/>
          <p:nvPr/>
        </p:nvGrpSpPr>
        <p:grpSpPr>
          <a:xfrm>
            <a:off x="557530" y="9566731"/>
            <a:ext cx="17098952" cy="540946"/>
            <a:chOff x="0" y="-192882"/>
            <a:chExt cx="22798602" cy="721262"/>
          </a:xfrm>
        </p:grpSpPr>
        <p:cxnSp>
          <p:nvCxnSpPr>
            <p:cNvPr id="87" name="Google Shape;87;p1"/>
            <p:cNvCxnSpPr/>
            <p:nvPr/>
          </p:nvCxnSpPr>
          <p:spPr>
            <a:xfrm>
              <a:off x="13731267" y="264190"/>
              <a:ext cx="9067335" cy="0"/>
            </a:xfrm>
            <a:prstGeom prst="straightConnector1">
              <a:avLst/>
            </a:prstGeom>
            <a:noFill/>
            <a:ln cap="flat" cmpd="sng" w="127000">
              <a:solidFill>
                <a:srgbClr val="15762B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88" name="Google Shape;88;p1"/>
            <p:cNvGrpSpPr/>
            <p:nvPr/>
          </p:nvGrpSpPr>
          <p:grpSpPr>
            <a:xfrm>
              <a:off x="8845075" y="-192882"/>
              <a:ext cx="4862999" cy="721262"/>
              <a:chOff x="0" y="-38100"/>
              <a:chExt cx="960592" cy="142471"/>
            </a:xfrm>
          </p:grpSpPr>
          <p:sp>
            <p:nvSpPr>
              <p:cNvPr id="89" name="Google Shape;89;p1"/>
              <p:cNvSpPr/>
              <p:nvPr/>
            </p:nvSpPr>
            <p:spPr>
              <a:xfrm>
                <a:off x="0" y="0"/>
                <a:ext cx="960592" cy="104371"/>
              </a:xfrm>
              <a:custGeom>
                <a:rect b="b" l="l" r="r" t="t"/>
                <a:pathLst>
                  <a:path extrusionOk="0" h="104371" w="960592">
                    <a:moveTo>
                      <a:pt x="0" y="0"/>
                    </a:moveTo>
                    <a:lnTo>
                      <a:pt x="960592" y="0"/>
                    </a:lnTo>
                    <a:lnTo>
                      <a:pt x="960592" y="104371"/>
                    </a:lnTo>
                    <a:lnTo>
                      <a:pt x="0" y="10437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90" name="Google Shape;90;p1"/>
              <p:cNvSpPr txBox="1"/>
              <p:nvPr/>
            </p:nvSpPr>
            <p:spPr>
              <a:xfrm>
                <a:off x="0" y="-38100"/>
                <a:ext cx="960592" cy="1424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22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1" name="Google Shape;91;p1"/>
            <p:cNvSpPr txBox="1"/>
            <p:nvPr/>
          </p:nvSpPr>
          <p:spPr>
            <a:xfrm>
              <a:off x="8999457" y="35636"/>
              <a:ext cx="4708500" cy="38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77" u="none" cap="none" strike="noStrike">
                  <a:solidFill>
                    <a:srgbClr val="000000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BUILD WITH </a:t>
              </a:r>
              <a:r>
                <a:rPr b="1" i="0" lang="en-US" sz="1877" u="none" cap="none" strike="noStrike">
                  <a:solidFill>
                    <a:srgbClr val="FF5C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भारत</a:t>
              </a:r>
              <a:r>
                <a:rPr b="1" lang="en-US" sz="1877">
                  <a:solidFill>
                    <a:srgbClr val="FF5C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4</a:t>
              </a:r>
              <a:r>
                <a:rPr b="1" i="0" lang="en-US" sz="1877" u="none" cap="none" strike="noStrike">
                  <a:solidFill>
                    <a:srgbClr val="FF5C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.0</a:t>
              </a:r>
              <a:endParaRPr/>
            </a:p>
          </p:txBody>
        </p:sp>
        <p:cxnSp>
          <p:nvCxnSpPr>
            <p:cNvPr id="92" name="Google Shape;92;p1"/>
            <p:cNvCxnSpPr/>
            <p:nvPr/>
          </p:nvCxnSpPr>
          <p:spPr>
            <a:xfrm>
              <a:off x="0" y="264190"/>
              <a:ext cx="8845075" cy="0"/>
            </a:xfrm>
            <a:prstGeom prst="straightConnector1">
              <a:avLst/>
            </a:prstGeom>
            <a:noFill/>
            <a:ln cap="flat" cmpd="sng" w="127000">
              <a:solidFill>
                <a:srgbClr val="FF5C1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93" name="Google Shape;93;p1"/>
          <p:cNvGrpSpPr/>
          <p:nvPr/>
        </p:nvGrpSpPr>
        <p:grpSpPr>
          <a:xfrm>
            <a:off x="4476794" y="1617027"/>
            <a:ext cx="9513225" cy="4790394"/>
            <a:chOff x="0" y="9525"/>
            <a:chExt cx="12684300" cy="6387192"/>
          </a:xfrm>
        </p:grpSpPr>
        <p:cxnSp>
          <p:nvCxnSpPr>
            <p:cNvPr id="94" name="Google Shape;94;p1"/>
            <p:cNvCxnSpPr/>
            <p:nvPr/>
          </p:nvCxnSpPr>
          <p:spPr>
            <a:xfrm>
              <a:off x="2113904" y="2914220"/>
              <a:ext cx="2621624" cy="0"/>
            </a:xfrm>
            <a:prstGeom prst="straightConnector1">
              <a:avLst/>
            </a:prstGeom>
            <a:noFill/>
            <a:ln cap="flat" cmpd="sng" w="53600">
              <a:solidFill>
                <a:srgbClr val="FF5C1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5" name="Google Shape;95;p1"/>
            <p:cNvSpPr txBox="1"/>
            <p:nvPr/>
          </p:nvSpPr>
          <p:spPr>
            <a:xfrm>
              <a:off x="2113904" y="9525"/>
              <a:ext cx="8166067" cy="29046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372" u="none" cap="none" strike="noStrike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BUILD</a:t>
              </a:r>
              <a:endParaRPr/>
            </a:p>
          </p:txBody>
        </p:sp>
        <p:sp>
          <p:nvSpPr>
            <p:cNvPr id="96" name="Google Shape;96;p1"/>
            <p:cNvSpPr txBox="1"/>
            <p:nvPr/>
          </p:nvSpPr>
          <p:spPr>
            <a:xfrm>
              <a:off x="5103149" y="2453124"/>
              <a:ext cx="2137239" cy="8149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028" u="none" cap="none" strike="noStrike">
                  <a:solidFill>
                    <a:srgbClr val="8725B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WITH</a:t>
              </a:r>
              <a:endParaRPr/>
            </a:p>
          </p:txBody>
        </p:sp>
        <p:sp>
          <p:nvSpPr>
            <p:cNvPr id="97" name="Google Shape;97;p1"/>
            <p:cNvSpPr txBox="1"/>
            <p:nvPr/>
          </p:nvSpPr>
          <p:spPr>
            <a:xfrm>
              <a:off x="0" y="2508391"/>
              <a:ext cx="12684300" cy="350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7084" u="none" cap="none" strike="noStrike">
                  <a:solidFill>
                    <a:srgbClr val="FF5C1F"/>
                  </a:solidFill>
                  <a:latin typeface="Montserrat Black"/>
                  <a:ea typeface="Montserrat Black"/>
                  <a:cs typeface="Montserrat Black"/>
                  <a:sym typeface="Montserrat Black"/>
                </a:rPr>
                <a:t>भारत </a:t>
              </a:r>
              <a:r>
                <a:rPr b="1" lang="en-US" sz="17084">
                  <a:solidFill>
                    <a:srgbClr val="FF5C1F"/>
                  </a:solidFill>
                  <a:latin typeface="Montserrat Black"/>
                  <a:ea typeface="Montserrat Black"/>
                  <a:cs typeface="Montserrat Black"/>
                  <a:sym typeface="Montserrat Black"/>
                </a:rPr>
                <a:t>4</a:t>
              </a:r>
              <a:r>
                <a:rPr b="1" i="0" lang="en-US" sz="17084" u="none" cap="none" strike="noStrike">
                  <a:solidFill>
                    <a:srgbClr val="FF5C1F"/>
                  </a:solidFill>
                  <a:latin typeface="Montserrat Black"/>
                  <a:ea typeface="Montserrat Black"/>
                  <a:cs typeface="Montserrat Black"/>
                  <a:sym typeface="Montserrat Black"/>
                </a:rPr>
                <a:t>.0</a:t>
              </a:r>
              <a:endParaRPr/>
            </a:p>
          </p:txBody>
        </p:sp>
        <p:cxnSp>
          <p:nvCxnSpPr>
            <p:cNvPr id="98" name="Google Shape;98;p1"/>
            <p:cNvCxnSpPr/>
            <p:nvPr/>
          </p:nvCxnSpPr>
          <p:spPr>
            <a:xfrm>
              <a:off x="7435996" y="2941028"/>
              <a:ext cx="2621624" cy="0"/>
            </a:xfrm>
            <a:prstGeom prst="straightConnector1">
              <a:avLst/>
            </a:prstGeom>
            <a:noFill/>
            <a:ln cap="flat" cmpd="sng" w="53600">
              <a:solidFill>
                <a:srgbClr val="15762B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99" name="Google Shape;99;p1"/>
            <p:cNvGrpSpPr/>
            <p:nvPr/>
          </p:nvGrpSpPr>
          <p:grpSpPr>
            <a:xfrm>
              <a:off x="5153487" y="6079875"/>
              <a:ext cx="290541" cy="290541"/>
              <a:chOff x="0" y="0"/>
              <a:chExt cx="812800" cy="812800"/>
            </a:xfrm>
          </p:grpSpPr>
          <p:sp>
            <p:nvSpPr>
              <p:cNvPr id="100" name="Google Shape;100;p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5C1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" name="Google Shape;101;p1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22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2" name="Google Shape;102;p1"/>
            <p:cNvGrpSpPr/>
            <p:nvPr/>
          </p:nvGrpSpPr>
          <p:grpSpPr>
            <a:xfrm>
              <a:off x="6051667" y="6106176"/>
              <a:ext cx="290541" cy="290541"/>
              <a:chOff x="0" y="0"/>
              <a:chExt cx="812800" cy="812800"/>
            </a:xfrm>
          </p:grpSpPr>
          <p:sp>
            <p:nvSpPr>
              <p:cNvPr id="103" name="Google Shape;103;p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EFEFD"/>
              </a:solidFill>
              <a:ln cap="sq" cmpd="sng" w="9525">
                <a:solidFill>
                  <a:srgbClr val="000000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" name="Google Shape;104;p1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22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5" name="Google Shape;105;p1"/>
            <p:cNvGrpSpPr/>
            <p:nvPr/>
          </p:nvGrpSpPr>
          <p:grpSpPr>
            <a:xfrm>
              <a:off x="6949848" y="6106176"/>
              <a:ext cx="290541" cy="290541"/>
              <a:chOff x="0" y="0"/>
              <a:chExt cx="812800" cy="812800"/>
            </a:xfrm>
          </p:grpSpPr>
          <p:sp>
            <p:nvSpPr>
              <p:cNvPr id="106" name="Google Shape;106;p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762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" name="Google Shape;107;p1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22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8" name="Google Shape;108;p1"/>
            <p:cNvSpPr txBox="1"/>
            <p:nvPr/>
          </p:nvSpPr>
          <p:spPr>
            <a:xfrm>
              <a:off x="2071300" y="5457650"/>
              <a:ext cx="8251274" cy="4620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2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36" u="none" cap="none" strike="noStrike">
                  <a:solidFill>
                    <a:srgbClr val="222222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NATIONAL LEVEL HACKATHON</a:t>
              </a:r>
              <a:endParaRPr/>
            </a:p>
          </p:txBody>
        </p:sp>
      </p:grpSp>
      <p:sp>
        <p:nvSpPr>
          <p:cNvPr id="109" name="Google Shape;109;p1"/>
          <p:cNvSpPr txBox="1"/>
          <p:nvPr/>
        </p:nvSpPr>
        <p:spPr>
          <a:xfrm>
            <a:off x="1145912" y="7046928"/>
            <a:ext cx="15500000" cy="42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30" u="none" cap="none" strike="noStrike">
                <a:solidFill>
                  <a:srgbClr val="22222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TEAM NAME:</a:t>
            </a:r>
            <a:r>
              <a:rPr b="0" i="0" lang="en-US" sz="2530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 BharatFlow AI</a:t>
            </a:r>
            <a:endParaRPr/>
          </a:p>
        </p:txBody>
      </p:sp>
      <p:sp>
        <p:nvSpPr>
          <p:cNvPr id="110" name="Google Shape;110;p1"/>
          <p:cNvSpPr txBox="1"/>
          <p:nvPr/>
        </p:nvSpPr>
        <p:spPr>
          <a:xfrm>
            <a:off x="1145912" y="7633093"/>
            <a:ext cx="15500000" cy="42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30" u="none" cap="none" strike="noStrike">
                <a:solidFill>
                  <a:srgbClr val="22222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PROBLEM STATEMENT:</a:t>
            </a:r>
            <a:r>
              <a:rPr b="0" i="0" lang="en-US" sz="2530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 Reactive civic complaint systems</a:t>
            </a:r>
            <a:endParaRPr/>
          </a:p>
        </p:txBody>
      </p:sp>
      <p:sp>
        <p:nvSpPr>
          <p:cNvPr id="111" name="Google Shape;111;p1"/>
          <p:cNvSpPr txBox="1"/>
          <p:nvPr/>
        </p:nvSpPr>
        <p:spPr>
          <a:xfrm>
            <a:off x="1145912" y="8247895"/>
            <a:ext cx="15500000" cy="42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30" u="none" cap="none" strike="noStrike">
                <a:solidFill>
                  <a:srgbClr val="22222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TEAM MEMBERS:</a:t>
            </a:r>
            <a:r>
              <a:rPr b="0" i="0" lang="en-US" sz="2530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 Srinivaseswar, </a:t>
            </a:r>
            <a:r>
              <a:rPr b="0" i="0" lang="en-US" sz="2530" u="none" cap="none" strike="noStrike">
                <a:solidFill>
                  <a:srgbClr val="FF5C1F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[add team members]</a:t>
            </a:r>
            <a:endParaRPr/>
          </a:p>
        </p:txBody>
      </p:sp>
      <p:sp>
        <p:nvSpPr>
          <p:cNvPr id="112" name="Google Shape;112;p1"/>
          <p:cNvSpPr txBox="1"/>
          <p:nvPr/>
        </p:nvSpPr>
        <p:spPr>
          <a:xfrm>
            <a:off x="1145912" y="8834060"/>
            <a:ext cx="15500000" cy="42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30" u="none" cap="none" strike="noStrike">
                <a:solidFill>
                  <a:srgbClr val="22222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COLLEGE:</a:t>
            </a:r>
            <a:r>
              <a:rPr b="0" i="0" lang="en-US" sz="2530" u="none" cap="none" strike="noStrike">
                <a:solidFill>
                  <a:srgbClr val="FF5C1F"/>
                </a:solidFill>
                <a:latin typeface="Montserrat"/>
                <a:ea typeface="Montserrat"/>
                <a:cs typeface="Montserrat"/>
                <a:sym typeface="Montserrat"/>
              </a:rPr>
              <a:t xml:space="preserve"> [add your college name]</a:t>
            </a:r>
            <a:endParaRPr/>
          </a:p>
        </p:txBody>
      </p:sp>
      <p:sp>
        <p:nvSpPr>
          <p:cNvPr id="113" name="Google Shape;113;p1"/>
          <p:cNvSpPr/>
          <p:nvPr/>
        </p:nvSpPr>
        <p:spPr>
          <a:xfrm>
            <a:off x="8675659" y="133039"/>
            <a:ext cx="2442694" cy="1795778"/>
          </a:xfrm>
          <a:custGeom>
            <a:rect b="b" l="l" r="r" t="t"/>
            <a:pathLst>
              <a:path extrusionOk="0" h="1795778" w="2442694">
                <a:moveTo>
                  <a:pt x="0" y="0"/>
                </a:moveTo>
                <a:lnTo>
                  <a:pt x="2442694" y="0"/>
                </a:lnTo>
                <a:lnTo>
                  <a:pt x="2442694" y="1795778"/>
                </a:lnTo>
                <a:lnTo>
                  <a:pt x="0" y="17957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4342" l="0" r="0" t="-21681"/>
            </a:stretch>
          </a:blipFill>
          <a:ln>
            <a:noFill/>
          </a:ln>
        </p:spPr>
      </p:sp>
      <p:pic>
        <p:nvPicPr>
          <p:cNvPr id="114" name="Google Shape;114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30962" y="194675"/>
            <a:ext cx="1393754" cy="16725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9" name="Google Shape;119;p2"/>
          <p:cNvCxnSpPr/>
          <p:nvPr/>
        </p:nvCxnSpPr>
        <p:spPr>
          <a:xfrm>
            <a:off x="542379" y="1713507"/>
            <a:ext cx="0" cy="991268"/>
          </a:xfrm>
          <a:prstGeom prst="straightConnector1">
            <a:avLst/>
          </a:prstGeom>
          <a:noFill/>
          <a:ln cap="flat" cmpd="sng" w="190500">
            <a:solidFill>
              <a:srgbClr val="FF5C1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0" name="Google Shape;120;p2"/>
          <p:cNvSpPr/>
          <p:nvPr/>
        </p:nvSpPr>
        <p:spPr>
          <a:xfrm>
            <a:off x="4089950" y="0"/>
            <a:ext cx="10287000" cy="10594576"/>
          </a:xfrm>
          <a:custGeom>
            <a:rect b="b" l="l" r="r" t="t"/>
            <a:pathLst>
              <a:path extrusionOk="0" h="10594576" w="10287000">
                <a:moveTo>
                  <a:pt x="0" y="0"/>
                </a:moveTo>
                <a:lnTo>
                  <a:pt x="10287000" y="0"/>
                </a:lnTo>
                <a:lnTo>
                  <a:pt x="10287000" y="10594576"/>
                </a:lnTo>
                <a:lnTo>
                  <a:pt x="0" y="105945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494" r="-1494" t="0"/>
            </a:stretch>
          </a:blipFill>
          <a:ln>
            <a:noFill/>
          </a:ln>
        </p:spPr>
        <p:txBody>
          <a:bodyPr/>
          <a:p/>
        </p:txBody>
      </p:sp>
      <p:grpSp>
        <p:nvGrpSpPr>
          <p:cNvPr id="121" name="Google Shape;121;p2"/>
          <p:cNvGrpSpPr/>
          <p:nvPr/>
        </p:nvGrpSpPr>
        <p:grpSpPr>
          <a:xfrm>
            <a:off x="10834269" y="2063156"/>
            <a:ext cx="7084942" cy="262728"/>
            <a:chOff x="0" y="0"/>
            <a:chExt cx="9446588" cy="350304"/>
          </a:xfrm>
        </p:grpSpPr>
        <p:cxnSp>
          <p:nvCxnSpPr>
            <p:cNvPr id="122" name="Google Shape;122;p2"/>
            <p:cNvCxnSpPr/>
            <p:nvPr/>
          </p:nvCxnSpPr>
          <p:spPr>
            <a:xfrm>
              <a:off x="0" y="175152"/>
              <a:ext cx="9342136" cy="0"/>
            </a:xfrm>
            <a:prstGeom prst="straightConnector1">
              <a:avLst/>
            </a:prstGeom>
            <a:noFill/>
            <a:ln cap="rnd" cmpd="sng" w="114300">
              <a:solidFill>
                <a:srgbClr val="FF5C1F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23" name="Google Shape;123;p2"/>
            <p:cNvGrpSpPr/>
            <p:nvPr/>
          </p:nvGrpSpPr>
          <p:grpSpPr>
            <a:xfrm>
              <a:off x="9096284" y="0"/>
              <a:ext cx="350304" cy="350304"/>
              <a:chOff x="0" y="0"/>
              <a:chExt cx="812800" cy="812800"/>
            </a:xfrm>
          </p:grpSpPr>
          <p:sp>
            <p:nvSpPr>
              <p:cNvPr id="124" name="Google Shape;124;p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5C1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" name="Google Shape;125;p2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22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26" name="Google Shape;126;p2"/>
          <p:cNvSpPr txBox="1"/>
          <p:nvPr/>
        </p:nvSpPr>
        <p:spPr>
          <a:xfrm>
            <a:off x="834817" y="1703982"/>
            <a:ext cx="9999453" cy="971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PROBLEM STATEMENT</a:t>
            </a:r>
            <a:endParaRPr/>
          </a:p>
        </p:txBody>
      </p:sp>
      <p:grpSp>
        <p:nvGrpSpPr>
          <p:cNvPr id="127" name="Google Shape;127;p2"/>
          <p:cNvGrpSpPr/>
          <p:nvPr/>
        </p:nvGrpSpPr>
        <p:grpSpPr>
          <a:xfrm>
            <a:off x="557530" y="9566731"/>
            <a:ext cx="17098952" cy="540946"/>
            <a:chOff x="0" y="-192882"/>
            <a:chExt cx="22798602" cy="721262"/>
          </a:xfrm>
        </p:grpSpPr>
        <p:cxnSp>
          <p:nvCxnSpPr>
            <p:cNvPr id="128" name="Google Shape;128;p2"/>
            <p:cNvCxnSpPr/>
            <p:nvPr/>
          </p:nvCxnSpPr>
          <p:spPr>
            <a:xfrm>
              <a:off x="13731267" y="264190"/>
              <a:ext cx="9067335" cy="0"/>
            </a:xfrm>
            <a:prstGeom prst="straightConnector1">
              <a:avLst/>
            </a:prstGeom>
            <a:noFill/>
            <a:ln cap="flat" cmpd="sng" w="127000">
              <a:solidFill>
                <a:srgbClr val="15762B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29" name="Google Shape;129;p2"/>
            <p:cNvGrpSpPr/>
            <p:nvPr/>
          </p:nvGrpSpPr>
          <p:grpSpPr>
            <a:xfrm>
              <a:off x="8845075" y="-192882"/>
              <a:ext cx="4862999" cy="721262"/>
              <a:chOff x="0" y="-38100"/>
              <a:chExt cx="960592" cy="142471"/>
            </a:xfrm>
          </p:grpSpPr>
          <p:sp>
            <p:nvSpPr>
              <p:cNvPr id="130" name="Google Shape;130;p2"/>
              <p:cNvSpPr/>
              <p:nvPr/>
            </p:nvSpPr>
            <p:spPr>
              <a:xfrm>
                <a:off x="0" y="0"/>
                <a:ext cx="960592" cy="104371"/>
              </a:xfrm>
              <a:custGeom>
                <a:rect b="b" l="l" r="r" t="t"/>
                <a:pathLst>
                  <a:path extrusionOk="0" h="104371" w="960592">
                    <a:moveTo>
                      <a:pt x="0" y="0"/>
                    </a:moveTo>
                    <a:lnTo>
                      <a:pt x="960592" y="0"/>
                    </a:lnTo>
                    <a:lnTo>
                      <a:pt x="960592" y="104371"/>
                    </a:lnTo>
                    <a:lnTo>
                      <a:pt x="0" y="10437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31" name="Google Shape;131;p2"/>
              <p:cNvSpPr txBox="1"/>
              <p:nvPr/>
            </p:nvSpPr>
            <p:spPr>
              <a:xfrm>
                <a:off x="0" y="-38100"/>
                <a:ext cx="960592" cy="1424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22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2" name="Google Shape;132;p2"/>
            <p:cNvSpPr txBox="1"/>
            <p:nvPr/>
          </p:nvSpPr>
          <p:spPr>
            <a:xfrm>
              <a:off x="8999457" y="35636"/>
              <a:ext cx="4708617" cy="4255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77" u="none" cap="none" strike="noStrike">
                  <a:solidFill>
                    <a:srgbClr val="000000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BUILD WITH </a:t>
              </a:r>
              <a:r>
                <a:rPr b="1" i="0" lang="en-US" sz="1877" u="none" cap="none" strike="noStrike">
                  <a:solidFill>
                    <a:srgbClr val="FF5C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भारत4.0</a:t>
              </a:r>
              <a:endParaRPr/>
            </a:p>
          </p:txBody>
        </p:sp>
        <p:cxnSp>
          <p:nvCxnSpPr>
            <p:cNvPr id="133" name="Google Shape;133;p2"/>
            <p:cNvCxnSpPr/>
            <p:nvPr/>
          </p:nvCxnSpPr>
          <p:spPr>
            <a:xfrm>
              <a:off x="0" y="264190"/>
              <a:ext cx="8845075" cy="0"/>
            </a:xfrm>
            <a:prstGeom prst="straightConnector1">
              <a:avLst/>
            </a:prstGeom>
            <a:noFill/>
            <a:ln cap="flat" cmpd="sng" w="127000">
              <a:solidFill>
                <a:srgbClr val="FF5C1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34" name="Google Shape;134;p2"/>
          <p:cNvSpPr/>
          <p:nvPr/>
        </p:nvSpPr>
        <p:spPr>
          <a:xfrm>
            <a:off x="9443814" y="71389"/>
            <a:ext cx="2442694" cy="1795778"/>
          </a:xfrm>
          <a:custGeom>
            <a:rect b="b" l="l" r="r" t="t"/>
            <a:pathLst>
              <a:path extrusionOk="0" h="1795778" w="2442694">
                <a:moveTo>
                  <a:pt x="0" y="0"/>
                </a:moveTo>
                <a:lnTo>
                  <a:pt x="2442694" y="0"/>
                </a:lnTo>
                <a:lnTo>
                  <a:pt x="2442694" y="1795778"/>
                </a:lnTo>
                <a:lnTo>
                  <a:pt x="0" y="17957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4342" l="0" r="0" t="-21681"/>
            </a:stretch>
          </a:blipFill>
          <a:ln>
            <a:noFill/>
          </a:ln>
        </p:spPr>
        <p:txBody>
          <a:bodyPr/>
          <a:p/>
        </p:txBody>
      </p:sp>
      <p:pic>
        <p:nvPicPr>
          <p:cNvPr id="135" name="Google Shape;135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57738" y="83378"/>
            <a:ext cx="1393754" cy="1672504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Rounded Rectangle 135"/>
          <p:cNvSpPr/>
          <p:nvPr/>
        </p:nvSpPr>
        <p:spPr>
          <a:xfrm>
            <a:off x="832104" y="3337560"/>
            <a:ext cx="3749039" cy="8686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 i="0">
                <a:solidFill>
                  <a:srgbClr val="222222"/>
                </a:solidFill>
                <a:latin typeface="Calibri"/>
              </a:rPr>
              <a:t>Citizen notices a problem</a:t>
            </a:r>
          </a:p>
        </p:txBody>
      </p:sp>
      <p:sp>
        <p:nvSpPr>
          <p:cNvPr id="137" name="Right Arrow 136"/>
          <p:cNvSpPr/>
          <p:nvPr/>
        </p:nvSpPr>
        <p:spPr>
          <a:xfrm>
            <a:off x="4672583" y="3616452"/>
            <a:ext cx="365760" cy="31089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ounded Rectangle 137"/>
          <p:cNvSpPr/>
          <p:nvPr/>
        </p:nvSpPr>
        <p:spPr>
          <a:xfrm>
            <a:off x="5129784" y="3337560"/>
            <a:ext cx="3749039" cy="8686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 i="0">
                <a:solidFill>
                  <a:srgbClr val="222222"/>
                </a:solidFill>
                <a:latin typeface="Calibri"/>
              </a:rPr>
              <a:t>Citizen files a complaint</a:t>
            </a:r>
          </a:p>
        </p:txBody>
      </p:sp>
      <p:sp>
        <p:nvSpPr>
          <p:cNvPr id="139" name="Right Arrow 138"/>
          <p:cNvSpPr/>
          <p:nvPr/>
        </p:nvSpPr>
        <p:spPr>
          <a:xfrm>
            <a:off x="8970264" y="3616452"/>
            <a:ext cx="365760" cy="31089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ounded Rectangle 139"/>
          <p:cNvSpPr/>
          <p:nvPr/>
        </p:nvSpPr>
        <p:spPr>
          <a:xfrm>
            <a:off x="9427464" y="3337560"/>
            <a:ext cx="3749039" cy="8686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 i="0">
                <a:solidFill>
                  <a:srgbClr val="222222"/>
                </a:solidFill>
                <a:latin typeface="Calibri"/>
              </a:rPr>
              <a:t>Authority receives it</a:t>
            </a:r>
          </a:p>
        </p:txBody>
      </p:sp>
      <p:sp>
        <p:nvSpPr>
          <p:cNvPr id="141" name="Right Arrow 140"/>
          <p:cNvSpPr/>
          <p:nvPr/>
        </p:nvSpPr>
        <p:spPr>
          <a:xfrm>
            <a:off x="13267944" y="3616452"/>
            <a:ext cx="365760" cy="31089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ounded Rectangle 141"/>
          <p:cNvSpPr/>
          <p:nvPr/>
        </p:nvSpPr>
        <p:spPr>
          <a:xfrm>
            <a:off x="13725144" y="3337560"/>
            <a:ext cx="3749039" cy="868680"/>
          </a:xfrm>
          <a:prstGeom prst="roundRect">
            <a:avLst>
              <a:gd name="adj" fmla="val 15000"/>
            </a:avLst>
          </a:prstGeom>
          <a:solidFill>
            <a:srgbClr val="FFF0E9"/>
          </a:solidFill>
          <a:ln w="19050">
            <a:solidFill>
              <a:srgbClr val="FF5C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 i="0">
                <a:solidFill>
                  <a:srgbClr val="FF5C1F"/>
                </a:solidFill>
                <a:latin typeface="Calibri"/>
              </a:rPr>
              <a:t>Authority reacts — often late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832104" y="4572000"/>
            <a:ext cx="3920489" cy="3429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1106424" y="4846320"/>
            <a:ext cx="548640" cy="548640"/>
          </a:xfrm>
          <a:prstGeom prst="ellipse">
            <a:avLst/>
          </a:prstGeom>
          <a:solidFill>
            <a:srgbClr val="FF5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106424" y="5532120"/>
            <a:ext cx="337184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222222"/>
                </a:solidFill>
                <a:latin typeface="Calibri"/>
              </a:rPr>
              <a:t>Reactive by design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106424" y="6035040"/>
            <a:ext cx="3371849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>
                <a:solidFill>
                  <a:srgbClr val="555555"/>
                </a:solidFill>
                <a:latin typeface="Calibri"/>
              </a:rPr>
              <a:t>Action starts only after citizens complain — often after damage, accidents or flooding has already happened.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5072633" y="4572000"/>
            <a:ext cx="3920489" cy="3429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5346953" y="4846320"/>
            <a:ext cx="548640" cy="548640"/>
          </a:xfrm>
          <a:prstGeom prst="ellipse">
            <a:avLst/>
          </a:prstGeom>
          <a:solidFill>
            <a:srgbClr val="FF5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5346953" y="5532120"/>
            <a:ext cx="337184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222222"/>
                </a:solidFill>
                <a:latin typeface="Calibri"/>
              </a:rPr>
              <a:t>No smart prioritization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5346953" y="6035040"/>
            <a:ext cx="3371849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>
                <a:solidFill>
                  <a:srgbClr val="555555"/>
                </a:solidFill>
                <a:latin typeface="Calibri"/>
              </a:rPr>
              <a:t>Every complaint joins the same queue. A pothole on a busy junction can wait behind a minor issue.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9313163" y="4572000"/>
            <a:ext cx="3920489" cy="3429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9587484" y="4846320"/>
            <a:ext cx="548640" cy="548640"/>
          </a:xfrm>
          <a:prstGeom prst="ellipse">
            <a:avLst/>
          </a:prstGeom>
          <a:solidFill>
            <a:srgbClr val="FF5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9587484" y="5532120"/>
            <a:ext cx="337184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222222"/>
                </a:solidFill>
                <a:latin typeface="Calibri"/>
              </a:rPr>
              <a:t>No early warning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9587484" y="6035040"/>
            <a:ext cx="3371849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>
                <a:solidFill>
                  <a:srgbClr val="555555"/>
                </a:solidFill>
                <a:latin typeface="Calibri"/>
              </a:rPr>
              <a:t>Rainfall, complaint clusters and past patterns are not used to predict where the next failure will occur.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13553693" y="4572000"/>
            <a:ext cx="3920489" cy="3429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13828013" y="4846320"/>
            <a:ext cx="548640" cy="548640"/>
          </a:xfrm>
          <a:prstGeom prst="ellipse">
            <a:avLst/>
          </a:prstGeom>
          <a:solidFill>
            <a:srgbClr val="FF5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13828013" y="5532120"/>
            <a:ext cx="337184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222222"/>
                </a:solidFill>
                <a:latin typeface="Calibri"/>
              </a:rPr>
              <a:t>Closure without proof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13828013" y="6035040"/>
            <a:ext cx="3371849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>
                <a:solidFill>
                  <a:srgbClr val="555555"/>
                </a:solidFill>
                <a:latin typeface="Calibri"/>
              </a:rPr>
              <a:t>Tickets are marked resolved without independent verification, so citizens lose trust in the system.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832104" y="8275320"/>
            <a:ext cx="16642080" cy="960120"/>
          </a:xfrm>
          <a:prstGeom prst="roundRect">
            <a:avLst>
              <a:gd name="adj" fmla="val 15000"/>
            </a:avLst>
          </a:prstGeom>
          <a:solidFill>
            <a:srgbClr val="FFF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/>
          <a:lstStyle/>
          <a:p>
            <a:pPr algn="l"/>
            <a:r>
              <a:rPr sz="2300" b="1" i="0">
                <a:solidFill>
                  <a:srgbClr val="FF5C1F"/>
                </a:solidFill>
                <a:latin typeface="Calibri"/>
              </a:rPr>
              <a:t>The result: </a:t>
            </a:r>
            <a:r>
              <a:rPr sz="2300" b="0" i="0">
                <a:solidFill>
                  <a:srgbClr val="222222"/>
                </a:solidFill>
                <a:latin typeface="Calibri"/>
              </a:rPr>
              <a:t>delayed response, unequal attention to critical issues, and no way to trust that a problem is truly fixed.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"/>
          <p:cNvSpPr/>
          <p:nvPr/>
        </p:nvSpPr>
        <p:spPr>
          <a:xfrm>
            <a:off x="4089950" y="0"/>
            <a:ext cx="10287000" cy="10594576"/>
          </a:xfrm>
          <a:custGeom>
            <a:rect b="b" l="l" r="r" t="t"/>
            <a:pathLst>
              <a:path extrusionOk="0" h="10594576" w="10287000">
                <a:moveTo>
                  <a:pt x="0" y="0"/>
                </a:moveTo>
                <a:lnTo>
                  <a:pt x="10287000" y="0"/>
                </a:lnTo>
                <a:lnTo>
                  <a:pt x="10287000" y="10594576"/>
                </a:lnTo>
                <a:lnTo>
                  <a:pt x="0" y="105945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494" r="-1494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141" name="Google Shape;141;p3"/>
          <p:cNvSpPr txBox="1"/>
          <p:nvPr/>
        </p:nvSpPr>
        <p:spPr>
          <a:xfrm>
            <a:off x="834817" y="1703982"/>
            <a:ext cx="4597777" cy="971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SOLUTION</a:t>
            </a:r>
            <a:endParaRPr/>
          </a:p>
        </p:txBody>
      </p:sp>
      <p:cxnSp>
        <p:nvCxnSpPr>
          <p:cNvPr id="142" name="Google Shape;142;p3"/>
          <p:cNvCxnSpPr/>
          <p:nvPr/>
        </p:nvCxnSpPr>
        <p:spPr>
          <a:xfrm>
            <a:off x="542379" y="1713507"/>
            <a:ext cx="0" cy="991268"/>
          </a:xfrm>
          <a:prstGeom prst="straightConnector1">
            <a:avLst/>
          </a:prstGeom>
          <a:noFill/>
          <a:ln cap="flat" cmpd="sng" w="190500">
            <a:solidFill>
              <a:srgbClr val="FF5C1F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43" name="Google Shape;143;p3"/>
          <p:cNvGrpSpPr/>
          <p:nvPr/>
        </p:nvGrpSpPr>
        <p:grpSpPr>
          <a:xfrm>
            <a:off x="5432593" y="2063156"/>
            <a:ext cx="12486618" cy="262728"/>
            <a:chOff x="0" y="0"/>
            <a:chExt cx="16648823" cy="350304"/>
          </a:xfrm>
        </p:grpSpPr>
        <p:cxnSp>
          <p:nvCxnSpPr>
            <p:cNvPr id="144" name="Google Shape;144;p3"/>
            <p:cNvCxnSpPr/>
            <p:nvPr/>
          </p:nvCxnSpPr>
          <p:spPr>
            <a:xfrm>
              <a:off x="0" y="175152"/>
              <a:ext cx="16544370" cy="0"/>
            </a:xfrm>
            <a:prstGeom prst="straightConnector1">
              <a:avLst/>
            </a:prstGeom>
            <a:noFill/>
            <a:ln cap="rnd" cmpd="sng" w="114300">
              <a:solidFill>
                <a:srgbClr val="FF5C1F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45" name="Google Shape;145;p3"/>
            <p:cNvGrpSpPr/>
            <p:nvPr/>
          </p:nvGrpSpPr>
          <p:grpSpPr>
            <a:xfrm>
              <a:off x="16298519" y="0"/>
              <a:ext cx="350304" cy="350304"/>
              <a:chOff x="0" y="0"/>
              <a:chExt cx="812800" cy="812800"/>
            </a:xfrm>
          </p:grpSpPr>
          <p:sp>
            <p:nvSpPr>
              <p:cNvPr id="146" name="Google Shape;146;p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5C1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3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22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48" name="Google Shape;148;p3"/>
          <p:cNvGrpSpPr/>
          <p:nvPr/>
        </p:nvGrpSpPr>
        <p:grpSpPr>
          <a:xfrm>
            <a:off x="557530" y="9566731"/>
            <a:ext cx="17098952" cy="540946"/>
            <a:chOff x="0" y="-192882"/>
            <a:chExt cx="22798602" cy="721262"/>
          </a:xfrm>
        </p:grpSpPr>
        <p:cxnSp>
          <p:nvCxnSpPr>
            <p:cNvPr id="149" name="Google Shape;149;p3"/>
            <p:cNvCxnSpPr/>
            <p:nvPr/>
          </p:nvCxnSpPr>
          <p:spPr>
            <a:xfrm>
              <a:off x="13731267" y="264190"/>
              <a:ext cx="9067335" cy="0"/>
            </a:xfrm>
            <a:prstGeom prst="straightConnector1">
              <a:avLst/>
            </a:prstGeom>
            <a:noFill/>
            <a:ln cap="flat" cmpd="sng" w="127000">
              <a:solidFill>
                <a:srgbClr val="15762B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50" name="Google Shape;150;p3"/>
            <p:cNvGrpSpPr/>
            <p:nvPr/>
          </p:nvGrpSpPr>
          <p:grpSpPr>
            <a:xfrm>
              <a:off x="8845075" y="-192882"/>
              <a:ext cx="4862999" cy="721262"/>
              <a:chOff x="0" y="-38100"/>
              <a:chExt cx="960592" cy="142471"/>
            </a:xfrm>
          </p:grpSpPr>
          <p:sp>
            <p:nvSpPr>
              <p:cNvPr id="151" name="Google Shape;151;p3"/>
              <p:cNvSpPr/>
              <p:nvPr/>
            </p:nvSpPr>
            <p:spPr>
              <a:xfrm>
                <a:off x="0" y="0"/>
                <a:ext cx="960592" cy="104371"/>
              </a:xfrm>
              <a:custGeom>
                <a:rect b="b" l="l" r="r" t="t"/>
                <a:pathLst>
                  <a:path extrusionOk="0" h="104371" w="960592">
                    <a:moveTo>
                      <a:pt x="0" y="0"/>
                    </a:moveTo>
                    <a:lnTo>
                      <a:pt x="960592" y="0"/>
                    </a:lnTo>
                    <a:lnTo>
                      <a:pt x="960592" y="104371"/>
                    </a:lnTo>
                    <a:lnTo>
                      <a:pt x="0" y="10437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52" name="Google Shape;152;p3"/>
              <p:cNvSpPr txBox="1"/>
              <p:nvPr/>
            </p:nvSpPr>
            <p:spPr>
              <a:xfrm>
                <a:off x="0" y="-38100"/>
                <a:ext cx="960592" cy="1424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22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53" name="Google Shape;153;p3"/>
            <p:cNvSpPr txBox="1"/>
            <p:nvPr/>
          </p:nvSpPr>
          <p:spPr>
            <a:xfrm>
              <a:off x="8999457" y="35636"/>
              <a:ext cx="4708617" cy="4255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77" u="none" cap="none" strike="noStrike">
                  <a:solidFill>
                    <a:srgbClr val="000000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BUILD WITH </a:t>
              </a:r>
              <a:r>
                <a:rPr b="1" i="0" lang="en-US" sz="1877" u="none" cap="none" strike="noStrike">
                  <a:solidFill>
                    <a:srgbClr val="FF5C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भारत4.0</a:t>
              </a:r>
              <a:endParaRPr/>
            </a:p>
          </p:txBody>
        </p:sp>
        <p:cxnSp>
          <p:nvCxnSpPr>
            <p:cNvPr id="154" name="Google Shape;154;p3"/>
            <p:cNvCxnSpPr/>
            <p:nvPr/>
          </p:nvCxnSpPr>
          <p:spPr>
            <a:xfrm>
              <a:off x="0" y="264190"/>
              <a:ext cx="8845075" cy="0"/>
            </a:xfrm>
            <a:prstGeom prst="straightConnector1">
              <a:avLst/>
            </a:prstGeom>
            <a:noFill/>
            <a:ln cap="flat" cmpd="sng" w="127000">
              <a:solidFill>
                <a:srgbClr val="FF5C1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55" name="Google Shape;155;p3"/>
          <p:cNvSpPr/>
          <p:nvPr/>
        </p:nvSpPr>
        <p:spPr>
          <a:xfrm>
            <a:off x="9596214" y="223789"/>
            <a:ext cx="2442694" cy="1795778"/>
          </a:xfrm>
          <a:custGeom>
            <a:rect b="b" l="l" r="r" t="t"/>
            <a:pathLst>
              <a:path extrusionOk="0" h="1795778" w="2442694">
                <a:moveTo>
                  <a:pt x="0" y="0"/>
                </a:moveTo>
                <a:lnTo>
                  <a:pt x="2442694" y="0"/>
                </a:lnTo>
                <a:lnTo>
                  <a:pt x="2442694" y="1795778"/>
                </a:lnTo>
                <a:lnTo>
                  <a:pt x="0" y="17957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4341" l="0" r="0" t="-21680"/>
            </a:stretch>
          </a:blipFill>
          <a:ln>
            <a:noFill/>
          </a:ln>
        </p:spPr>
        <p:txBody>
          <a:bodyPr/>
          <a:p/>
        </p:txBody>
      </p:sp>
      <p:pic>
        <p:nvPicPr>
          <p:cNvPr id="156" name="Google Shape;156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10138" y="235778"/>
            <a:ext cx="1393754" cy="1672504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TextBox 156"/>
          <p:cNvSpPr txBox="1"/>
          <p:nvPr/>
        </p:nvSpPr>
        <p:spPr>
          <a:xfrm>
            <a:off x="832104" y="3291840"/>
            <a:ext cx="1664208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FF5C1F"/>
                </a:solidFill>
                <a:latin typeface="Calibri"/>
              </a:rPr>
              <a:t>BharatFlow AI</a:t>
            </a:r>
            <a:r>
              <a:rPr sz="2400" b="0" i="0">
                <a:solidFill>
                  <a:srgbClr val="222222"/>
                </a:solidFill>
                <a:latin typeface="Calibri"/>
              </a:rPr>
              <a:t> turns civic complaints into civic intelligence — an AI platform for Indian cities that detects, prioritizes, predicts and verifies urban infrastructure problems.</a:t>
            </a:r>
          </a:p>
        </p:txBody>
      </p:sp>
      <p:sp>
        <p:nvSpPr>
          <p:cNvPr id="158" name="Pentagon 157"/>
          <p:cNvSpPr/>
          <p:nvPr/>
        </p:nvSpPr>
        <p:spPr>
          <a:xfrm>
            <a:off x="832104" y="4434840"/>
            <a:ext cx="2468880" cy="777240"/>
          </a:xfrm>
          <a:prstGeom prst="homePlate">
            <a:avLst>
              <a:gd name="adj" fmla="val 28000"/>
            </a:avLst>
          </a:prstGeom>
          <a:solidFill>
            <a:srgbClr val="FF5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DETECT</a:t>
            </a:r>
          </a:p>
        </p:txBody>
      </p:sp>
      <p:sp>
        <p:nvSpPr>
          <p:cNvPr id="159" name="Chevron 158"/>
          <p:cNvSpPr/>
          <p:nvPr/>
        </p:nvSpPr>
        <p:spPr>
          <a:xfrm>
            <a:off x="3194304" y="4434840"/>
            <a:ext cx="2468880" cy="777240"/>
          </a:xfrm>
          <a:prstGeom prst="chevron">
            <a:avLst>
              <a:gd name="adj" fmla="val 28000"/>
            </a:avLst>
          </a:prstGeom>
          <a:solidFill>
            <a:srgbClr val="FF5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UNDERSTAND</a:t>
            </a:r>
          </a:p>
        </p:txBody>
      </p:sp>
      <p:sp>
        <p:nvSpPr>
          <p:cNvPr id="160" name="Chevron 159"/>
          <p:cNvSpPr/>
          <p:nvPr/>
        </p:nvSpPr>
        <p:spPr>
          <a:xfrm>
            <a:off x="5556504" y="4434840"/>
            <a:ext cx="2468880" cy="777240"/>
          </a:xfrm>
          <a:prstGeom prst="chevron">
            <a:avLst>
              <a:gd name="adj" fmla="val 28000"/>
            </a:avLst>
          </a:prstGeom>
          <a:solidFill>
            <a:srgbClr val="FF5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PRIORITIZE</a:t>
            </a:r>
          </a:p>
        </p:txBody>
      </p:sp>
      <p:sp>
        <p:nvSpPr>
          <p:cNvPr id="161" name="Chevron 160"/>
          <p:cNvSpPr/>
          <p:nvPr/>
        </p:nvSpPr>
        <p:spPr>
          <a:xfrm>
            <a:off x="7918704" y="4434840"/>
            <a:ext cx="2468880" cy="777240"/>
          </a:xfrm>
          <a:prstGeom prst="chevron">
            <a:avLst>
              <a:gd name="adj" fmla="val 28000"/>
            </a:avLst>
          </a:prstGeom>
          <a:solidFill>
            <a:srgbClr val="FF5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PREDICT</a:t>
            </a:r>
          </a:p>
        </p:txBody>
      </p:sp>
      <p:sp>
        <p:nvSpPr>
          <p:cNvPr id="162" name="Chevron 161"/>
          <p:cNvSpPr/>
          <p:nvPr/>
        </p:nvSpPr>
        <p:spPr>
          <a:xfrm>
            <a:off x="10280904" y="4434840"/>
            <a:ext cx="2468880" cy="777240"/>
          </a:xfrm>
          <a:prstGeom prst="chevron">
            <a:avLst>
              <a:gd name="adj" fmla="val 28000"/>
            </a:avLst>
          </a:prstGeom>
          <a:solidFill>
            <a:srgbClr val="FF5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ASSIGN</a:t>
            </a:r>
          </a:p>
        </p:txBody>
      </p:sp>
      <p:sp>
        <p:nvSpPr>
          <p:cNvPr id="163" name="Chevron 162"/>
          <p:cNvSpPr/>
          <p:nvPr/>
        </p:nvSpPr>
        <p:spPr>
          <a:xfrm>
            <a:off x="12643104" y="4434840"/>
            <a:ext cx="2468880" cy="777240"/>
          </a:xfrm>
          <a:prstGeom prst="chevron">
            <a:avLst>
              <a:gd name="adj" fmla="val 28000"/>
            </a:avLst>
          </a:prstGeom>
          <a:solidFill>
            <a:srgbClr val="FF5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RESOLVE</a:t>
            </a:r>
          </a:p>
        </p:txBody>
      </p:sp>
      <p:sp>
        <p:nvSpPr>
          <p:cNvPr id="164" name="Chevron 163"/>
          <p:cNvSpPr/>
          <p:nvPr/>
        </p:nvSpPr>
        <p:spPr>
          <a:xfrm>
            <a:off x="15005304" y="4434840"/>
            <a:ext cx="2468880" cy="777240"/>
          </a:xfrm>
          <a:prstGeom prst="chevron">
            <a:avLst>
              <a:gd name="adj" fmla="val 28000"/>
            </a:avLst>
          </a:prstGeom>
          <a:solidFill>
            <a:srgbClr val="157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VERIFY</a:t>
            </a:r>
          </a:p>
        </p:txBody>
      </p:sp>
      <p:sp>
        <p:nvSpPr>
          <p:cNvPr id="165" name="Rounded Rectangle 164"/>
          <p:cNvSpPr/>
          <p:nvPr/>
        </p:nvSpPr>
        <p:spPr>
          <a:xfrm>
            <a:off x="832104" y="5532120"/>
            <a:ext cx="533400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1060704" y="5760720"/>
            <a:ext cx="548640" cy="548640"/>
          </a:xfrm>
          <a:prstGeom prst="ellipse">
            <a:avLst/>
          </a:prstGeom>
          <a:solidFill>
            <a:srgbClr val="FF5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1792224" y="5715000"/>
            <a:ext cx="41452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1" i="0">
                <a:solidFill>
                  <a:srgbClr val="222222"/>
                </a:solidFill>
                <a:latin typeface="Calibri"/>
              </a:rPr>
              <a:t>Multimodal reporting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1106424" y="6400800"/>
            <a:ext cx="4785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555555"/>
                </a:solidFill>
                <a:latin typeface="Calibri"/>
              </a:rPr>
              <a:t>Photo, text or voice plus GPS location in a guided step-by-step flow.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6486144" y="5532120"/>
            <a:ext cx="533400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6714744" y="5760720"/>
            <a:ext cx="548640" cy="548640"/>
          </a:xfrm>
          <a:prstGeom prst="ellipse">
            <a:avLst/>
          </a:prstGeom>
          <a:solidFill>
            <a:srgbClr val="FF5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7446263" y="5715000"/>
            <a:ext cx="41452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1" i="0">
                <a:solidFill>
                  <a:srgbClr val="222222"/>
                </a:solidFill>
                <a:latin typeface="Calibri"/>
              </a:rPr>
              <a:t>AI analysis engine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6760463" y="6400800"/>
            <a:ext cx="4785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555555"/>
                </a:solidFill>
                <a:latin typeface="Calibri"/>
              </a:rPr>
              <a:t>Vision + text AI returns category, confidence, severity, safety risk and department.</a:t>
            </a:r>
          </a:p>
        </p:txBody>
      </p:sp>
      <p:sp>
        <p:nvSpPr>
          <p:cNvPr id="173" name="Rounded Rectangle 172"/>
          <p:cNvSpPr/>
          <p:nvPr/>
        </p:nvSpPr>
        <p:spPr>
          <a:xfrm>
            <a:off x="12140183" y="5532120"/>
            <a:ext cx="533400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12368783" y="5760720"/>
            <a:ext cx="548640" cy="548640"/>
          </a:xfrm>
          <a:prstGeom prst="ellipse">
            <a:avLst/>
          </a:prstGeom>
          <a:solidFill>
            <a:srgbClr val="FF5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13100304" y="5715000"/>
            <a:ext cx="41452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1" i="0">
                <a:solidFill>
                  <a:srgbClr val="222222"/>
                </a:solidFill>
                <a:latin typeface="Calibri"/>
              </a:rPr>
              <a:t>Explainable priority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12414504" y="6400800"/>
            <a:ext cx="4785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555555"/>
                </a:solidFill>
                <a:latin typeface="Calibri"/>
              </a:rPr>
              <a:t>Transparent 0–100 score mapped to P1–P4, with every contributing factor shown.</a:t>
            </a:r>
          </a:p>
        </p:txBody>
      </p:sp>
      <p:sp>
        <p:nvSpPr>
          <p:cNvPr id="177" name="Rounded Rectangle 176"/>
          <p:cNvSpPr/>
          <p:nvPr/>
        </p:nvSpPr>
        <p:spPr>
          <a:xfrm>
            <a:off x="832104" y="7452360"/>
            <a:ext cx="533400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1060704" y="7680960"/>
            <a:ext cx="548640" cy="548640"/>
          </a:xfrm>
          <a:prstGeom prst="ellipse">
            <a:avLst/>
          </a:prstGeom>
          <a:solidFill>
            <a:srgbClr val="157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1792224" y="7635240"/>
            <a:ext cx="41452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1" i="0">
                <a:solidFill>
                  <a:srgbClr val="222222"/>
                </a:solidFill>
                <a:latin typeface="Calibri"/>
              </a:rPr>
              <a:t>Civic Risk Forecast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1106424" y="8321040"/>
            <a:ext cx="4785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555555"/>
                </a:solidFill>
                <a:latin typeface="Calibri"/>
              </a:rPr>
              <a:t>Predicts emerging hotspots from complaint clusters, history and rainfall.</a:t>
            </a:r>
          </a:p>
        </p:txBody>
      </p:sp>
      <p:sp>
        <p:nvSpPr>
          <p:cNvPr id="181" name="Rounded Rectangle 180"/>
          <p:cNvSpPr/>
          <p:nvPr/>
        </p:nvSpPr>
        <p:spPr>
          <a:xfrm>
            <a:off x="6486144" y="7452360"/>
            <a:ext cx="533400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6714744" y="7680960"/>
            <a:ext cx="548640" cy="548640"/>
          </a:xfrm>
          <a:prstGeom prst="ellipse">
            <a:avLst/>
          </a:prstGeom>
          <a:solidFill>
            <a:srgbClr val="FF5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7446263" y="7635240"/>
            <a:ext cx="41452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1" i="0">
                <a:solidFill>
                  <a:srgbClr val="222222"/>
                </a:solidFill>
                <a:latin typeface="Calibri"/>
              </a:rPr>
              <a:t>Command-center dashboard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6760463" y="8321040"/>
            <a:ext cx="4785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555555"/>
                </a:solidFill>
                <a:latin typeface="Calibri"/>
              </a:rPr>
              <a:t>Live map, heatmap, priority queue, analytics and assignment tracking.</a:t>
            </a:r>
          </a:p>
        </p:txBody>
      </p:sp>
      <p:sp>
        <p:nvSpPr>
          <p:cNvPr id="185" name="Rounded Rectangle 184"/>
          <p:cNvSpPr/>
          <p:nvPr/>
        </p:nvSpPr>
        <p:spPr>
          <a:xfrm>
            <a:off x="12140183" y="7452360"/>
            <a:ext cx="533400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12368783" y="7680960"/>
            <a:ext cx="548640" cy="548640"/>
          </a:xfrm>
          <a:prstGeom prst="ellipse">
            <a:avLst/>
          </a:prstGeom>
          <a:solidFill>
            <a:srgbClr val="157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13100304" y="7635240"/>
            <a:ext cx="41452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1" i="0">
                <a:solidFill>
                  <a:srgbClr val="222222"/>
                </a:solidFill>
                <a:latin typeface="Calibri"/>
              </a:rPr>
              <a:t>AI resolution verification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12414504" y="8321040"/>
            <a:ext cx="4785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555555"/>
                </a:solidFill>
                <a:latin typeface="Calibri"/>
              </a:rPr>
              <a:t>Compares before/after photos: “Likely resolved” or “Needs review”.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"/>
          <p:cNvSpPr/>
          <p:nvPr/>
        </p:nvSpPr>
        <p:spPr>
          <a:xfrm>
            <a:off x="4089950" y="0"/>
            <a:ext cx="10287000" cy="10594576"/>
          </a:xfrm>
          <a:custGeom>
            <a:rect b="b" l="l" r="r" t="t"/>
            <a:pathLst>
              <a:path extrusionOk="0" h="10594576" w="10287000">
                <a:moveTo>
                  <a:pt x="0" y="0"/>
                </a:moveTo>
                <a:lnTo>
                  <a:pt x="10287000" y="0"/>
                </a:lnTo>
                <a:lnTo>
                  <a:pt x="10287000" y="10594576"/>
                </a:lnTo>
                <a:lnTo>
                  <a:pt x="0" y="105945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494" r="-1494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162" name="Google Shape;162;p4"/>
          <p:cNvSpPr txBox="1"/>
          <p:nvPr/>
        </p:nvSpPr>
        <p:spPr>
          <a:xfrm>
            <a:off x="834817" y="1703982"/>
            <a:ext cx="8891057" cy="971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FLOW OF SOLUTION</a:t>
            </a:r>
            <a:endParaRPr/>
          </a:p>
        </p:txBody>
      </p:sp>
      <p:cxnSp>
        <p:nvCxnSpPr>
          <p:cNvPr id="163" name="Google Shape;163;p4"/>
          <p:cNvCxnSpPr/>
          <p:nvPr/>
        </p:nvCxnSpPr>
        <p:spPr>
          <a:xfrm>
            <a:off x="542379" y="1713507"/>
            <a:ext cx="0" cy="991268"/>
          </a:xfrm>
          <a:prstGeom prst="straightConnector1">
            <a:avLst/>
          </a:prstGeom>
          <a:noFill/>
          <a:ln cap="flat" cmpd="sng" w="190500">
            <a:solidFill>
              <a:srgbClr val="FF5C1F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64" name="Google Shape;164;p4"/>
          <p:cNvGrpSpPr/>
          <p:nvPr/>
        </p:nvGrpSpPr>
        <p:grpSpPr>
          <a:xfrm>
            <a:off x="9725874" y="2063156"/>
            <a:ext cx="8193336" cy="262728"/>
            <a:chOff x="0" y="0"/>
            <a:chExt cx="10924448" cy="350304"/>
          </a:xfrm>
        </p:grpSpPr>
        <p:cxnSp>
          <p:nvCxnSpPr>
            <p:cNvPr id="165" name="Google Shape;165;p4"/>
            <p:cNvCxnSpPr/>
            <p:nvPr/>
          </p:nvCxnSpPr>
          <p:spPr>
            <a:xfrm>
              <a:off x="0" y="175152"/>
              <a:ext cx="10924448" cy="0"/>
            </a:xfrm>
            <a:prstGeom prst="straightConnector1">
              <a:avLst/>
            </a:prstGeom>
            <a:noFill/>
            <a:ln cap="rnd" cmpd="sng" w="114300">
              <a:solidFill>
                <a:srgbClr val="FF5C1F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66" name="Google Shape;166;p4"/>
            <p:cNvGrpSpPr/>
            <p:nvPr/>
          </p:nvGrpSpPr>
          <p:grpSpPr>
            <a:xfrm>
              <a:off x="10574144" y="0"/>
              <a:ext cx="350304" cy="350304"/>
              <a:chOff x="0" y="0"/>
              <a:chExt cx="812800" cy="812800"/>
            </a:xfrm>
          </p:grpSpPr>
          <p:sp>
            <p:nvSpPr>
              <p:cNvPr id="167" name="Google Shape;167;p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5C1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4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22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69" name="Google Shape;169;p4"/>
          <p:cNvGrpSpPr/>
          <p:nvPr/>
        </p:nvGrpSpPr>
        <p:grpSpPr>
          <a:xfrm>
            <a:off x="557530" y="9566731"/>
            <a:ext cx="17098952" cy="540946"/>
            <a:chOff x="0" y="-192882"/>
            <a:chExt cx="22798602" cy="721262"/>
          </a:xfrm>
        </p:grpSpPr>
        <p:cxnSp>
          <p:nvCxnSpPr>
            <p:cNvPr id="170" name="Google Shape;170;p4"/>
            <p:cNvCxnSpPr/>
            <p:nvPr/>
          </p:nvCxnSpPr>
          <p:spPr>
            <a:xfrm>
              <a:off x="13731267" y="264190"/>
              <a:ext cx="9067335" cy="0"/>
            </a:xfrm>
            <a:prstGeom prst="straightConnector1">
              <a:avLst/>
            </a:prstGeom>
            <a:noFill/>
            <a:ln cap="flat" cmpd="sng" w="127000">
              <a:solidFill>
                <a:srgbClr val="15762B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71" name="Google Shape;171;p4"/>
            <p:cNvGrpSpPr/>
            <p:nvPr/>
          </p:nvGrpSpPr>
          <p:grpSpPr>
            <a:xfrm>
              <a:off x="8845075" y="-192882"/>
              <a:ext cx="4862999" cy="721262"/>
              <a:chOff x="0" y="-38100"/>
              <a:chExt cx="960592" cy="142471"/>
            </a:xfrm>
          </p:grpSpPr>
          <p:sp>
            <p:nvSpPr>
              <p:cNvPr id="172" name="Google Shape;172;p4"/>
              <p:cNvSpPr/>
              <p:nvPr/>
            </p:nvSpPr>
            <p:spPr>
              <a:xfrm>
                <a:off x="0" y="0"/>
                <a:ext cx="960592" cy="104371"/>
              </a:xfrm>
              <a:custGeom>
                <a:rect b="b" l="l" r="r" t="t"/>
                <a:pathLst>
                  <a:path extrusionOk="0" h="104371" w="960592">
                    <a:moveTo>
                      <a:pt x="0" y="0"/>
                    </a:moveTo>
                    <a:lnTo>
                      <a:pt x="960592" y="0"/>
                    </a:lnTo>
                    <a:lnTo>
                      <a:pt x="960592" y="104371"/>
                    </a:lnTo>
                    <a:lnTo>
                      <a:pt x="0" y="10437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73" name="Google Shape;173;p4"/>
              <p:cNvSpPr txBox="1"/>
              <p:nvPr/>
            </p:nvSpPr>
            <p:spPr>
              <a:xfrm>
                <a:off x="0" y="-38100"/>
                <a:ext cx="960592" cy="1424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22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74" name="Google Shape;174;p4"/>
            <p:cNvSpPr txBox="1"/>
            <p:nvPr/>
          </p:nvSpPr>
          <p:spPr>
            <a:xfrm>
              <a:off x="8999457" y="35636"/>
              <a:ext cx="4708617" cy="4255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77" u="none" cap="none" strike="noStrike">
                  <a:solidFill>
                    <a:srgbClr val="000000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BUILD WITH </a:t>
              </a:r>
              <a:r>
                <a:rPr b="1" i="0" lang="en-US" sz="1877" u="none" cap="none" strike="noStrike">
                  <a:solidFill>
                    <a:srgbClr val="FF5C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भारत4.0</a:t>
              </a:r>
              <a:endParaRPr/>
            </a:p>
          </p:txBody>
        </p:sp>
        <p:cxnSp>
          <p:nvCxnSpPr>
            <p:cNvPr id="175" name="Google Shape;175;p4"/>
            <p:cNvCxnSpPr/>
            <p:nvPr/>
          </p:nvCxnSpPr>
          <p:spPr>
            <a:xfrm>
              <a:off x="0" y="264190"/>
              <a:ext cx="8845075" cy="0"/>
            </a:xfrm>
            <a:prstGeom prst="straightConnector1">
              <a:avLst/>
            </a:prstGeom>
            <a:noFill/>
            <a:ln cap="flat" cmpd="sng" w="127000">
              <a:solidFill>
                <a:srgbClr val="FF5C1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76" name="Google Shape;176;p4"/>
          <p:cNvSpPr/>
          <p:nvPr/>
        </p:nvSpPr>
        <p:spPr>
          <a:xfrm>
            <a:off x="9443814" y="71389"/>
            <a:ext cx="2442694" cy="1795778"/>
          </a:xfrm>
          <a:custGeom>
            <a:rect b="b" l="l" r="r" t="t"/>
            <a:pathLst>
              <a:path extrusionOk="0" h="1795778" w="2442694">
                <a:moveTo>
                  <a:pt x="0" y="0"/>
                </a:moveTo>
                <a:lnTo>
                  <a:pt x="2442694" y="0"/>
                </a:lnTo>
                <a:lnTo>
                  <a:pt x="2442694" y="1795778"/>
                </a:lnTo>
                <a:lnTo>
                  <a:pt x="0" y="17957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4341" l="0" r="0" t="-21680"/>
            </a:stretch>
          </a:blipFill>
          <a:ln>
            <a:noFill/>
          </a:ln>
        </p:spPr>
        <p:txBody>
          <a:bodyPr/>
          <a:p/>
        </p:txBody>
      </p:sp>
      <p:pic>
        <p:nvPicPr>
          <p:cNvPr id="177" name="Google Shape;177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57738" y="83378"/>
            <a:ext cx="1393754" cy="1672504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Rounded Rectangle 177"/>
          <p:cNvSpPr/>
          <p:nvPr/>
        </p:nvSpPr>
        <p:spPr>
          <a:xfrm>
            <a:off x="832104" y="3337560"/>
            <a:ext cx="2392680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1060704" y="3566160"/>
            <a:ext cx="502920" cy="502920"/>
          </a:xfrm>
          <a:prstGeom prst="ellipse">
            <a:avLst/>
          </a:prstGeom>
          <a:solidFill>
            <a:srgbClr val="FF5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1060704" y="4206240"/>
            <a:ext cx="20269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222222"/>
                </a:solidFill>
                <a:latin typeface="Calibri"/>
              </a:rPr>
              <a:t>Report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1060704" y="4617720"/>
            <a:ext cx="2026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555555"/>
                </a:solidFill>
                <a:latin typeface="Calibri"/>
              </a:rPr>
              <a:t>Photo, text or voice with map location</a:t>
            </a:r>
          </a:p>
        </p:txBody>
      </p:sp>
      <p:sp>
        <p:nvSpPr>
          <p:cNvPr id="182" name="Right Arrow 181"/>
          <p:cNvSpPr/>
          <p:nvPr/>
        </p:nvSpPr>
        <p:spPr>
          <a:xfrm>
            <a:off x="3288792" y="4274820"/>
            <a:ext cx="329184" cy="274320"/>
          </a:xfrm>
          <a:prstGeom prst="rightArrow">
            <a:avLst/>
          </a:prstGeom>
          <a:solidFill>
            <a:srgbClr val="FF5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ounded Rectangle 182"/>
          <p:cNvSpPr/>
          <p:nvPr/>
        </p:nvSpPr>
        <p:spPr>
          <a:xfrm>
            <a:off x="3681983" y="3337560"/>
            <a:ext cx="2392680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3910583" y="3566160"/>
            <a:ext cx="502920" cy="502920"/>
          </a:xfrm>
          <a:prstGeom prst="ellipse">
            <a:avLst/>
          </a:prstGeom>
          <a:solidFill>
            <a:srgbClr val="FF5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3910583" y="4206240"/>
            <a:ext cx="20269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222222"/>
                </a:solidFill>
                <a:latin typeface="Calibri"/>
              </a:rPr>
              <a:t>Analyze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3910583" y="4617720"/>
            <a:ext cx="2026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555555"/>
                </a:solidFill>
                <a:latin typeface="Calibri"/>
              </a:rPr>
              <a:t>AI finds category, severity, risk, department</a:t>
            </a:r>
          </a:p>
        </p:txBody>
      </p:sp>
      <p:sp>
        <p:nvSpPr>
          <p:cNvPr id="187" name="Right Arrow 186"/>
          <p:cNvSpPr/>
          <p:nvPr/>
        </p:nvSpPr>
        <p:spPr>
          <a:xfrm>
            <a:off x="6138672" y="4274820"/>
            <a:ext cx="329184" cy="274320"/>
          </a:xfrm>
          <a:prstGeom prst="rightArrow">
            <a:avLst/>
          </a:prstGeom>
          <a:solidFill>
            <a:srgbClr val="FF5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ounded Rectangle 187"/>
          <p:cNvSpPr/>
          <p:nvPr/>
        </p:nvSpPr>
        <p:spPr>
          <a:xfrm>
            <a:off x="6531864" y="3337560"/>
            <a:ext cx="2392680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6760464" y="3566160"/>
            <a:ext cx="502920" cy="502920"/>
          </a:xfrm>
          <a:prstGeom prst="ellipse">
            <a:avLst/>
          </a:prstGeom>
          <a:solidFill>
            <a:srgbClr val="FF5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6760464" y="4206240"/>
            <a:ext cx="20269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222222"/>
                </a:solidFill>
                <a:latin typeface="Calibri"/>
              </a:rPr>
              <a:t>Prioritize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6760464" y="4617720"/>
            <a:ext cx="2026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555555"/>
                </a:solidFill>
                <a:latin typeface="Calibri"/>
              </a:rPr>
              <a:t>Score 0–100 mapped to P1–P4</a:t>
            </a:r>
          </a:p>
        </p:txBody>
      </p:sp>
      <p:sp>
        <p:nvSpPr>
          <p:cNvPr id="192" name="Right Arrow 191"/>
          <p:cNvSpPr/>
          <p:nvPr/>
        </p:nvSpPr>
        <p:spPr>
          <a:xfrm>
            <a:off x="8988552" y="4274820"/>
            <a:ext cx="329184" cy="274320"/>
          </a:xfrm>
          <a:prstGeom prst="rightArrow">
            <a:avLst/>
          </a:prstGeom>
          <a:solidFill>
            <a:srgbClr val="FF5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ounded Rectangle 192"/>
          <p:cNvSpPr/>
          <p:nvPr/>
        </p:nvSpPr>
        <p:spPr>
          <a:xfrm>
            <a:off x="9381744" y="3337560"/>
            <a:ext cx="2392680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9610344" y="3566160"/>
            <a:ext cx="502920" cy="502920"/>
          </a:xfrm>
          <a:prstGeom prst="ellipse">
            <a:avLst/>
          </a:prstGeom>
          <a:solidFill>
            <a:srgbClr val="FF5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9610344" y="4206240"/>
            <a:ext cx="20269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222222"/>
                </a:solidFill>
                <a:latin typeface="Calibri"/>
              </a:rPr>
              <a:t>Assign &amp; act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9610344" y="4617720"/>
            <a:ext cx="2026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555555"/>
                </a:solidFill>
                <a:latin typeface="Calibri"/>
              </a:rPr>
              <a:t>Authority dashboard, map and queue</a:t>
            </a:r>
          </a:p>
        </p:txBody>
      </p:sp>
      <p:sp>
        <p:nvSpPr>
          <p:cNvPr id="197" name="Right Arrow 196"/>
          <p:cNvSpPr/>
          <p:nvPr/>
        </p:nvSpPr>
        <p:spPr>
          <a:xfrm>
            <a:off x="11838432" y="4274820"/>
            <a:ext cx="329184" cy="274320"/>
          </a:xfrm>
          <a:prstGeom prst="rightArrow">
            <a:avLst/>
          </a:prstGeom>
          <a:solidFill>
            <a:srgbClr val="FF5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ounded Rectangle 197"/>
          <p:cNvSpPr/>
          <p:nvPr/>
        </p:nvSpPr>
        <p:spPr>
          <a:xfrm>
            <a:off x="12231624" y="3337560"/>
            <a:ext cx="2392680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12460224" y="3566160"/>
            <a:ext cx="502920" cy="502920"/>
          </a:xfrm>
          <a:prstGeom prst="ellipse">
            <a:avLst/>
          </a:prstGeom>
          <a:solidFill>
            <a:srgbClr val="FF5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12460224" y="4206240"/>
            <a:ext cx="20269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222222"/>
                </a:solidFill>
                <a:latin typeface="Calibri"/>
              </a:rPr>
              <a:t>Resolve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12460224" y="4617720"/>
            <a:ext cx="2026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555555"/>
                </a:solidFill>
                <a:latin typeface="Calibri"/>
              </a:rPr>
              <a:t>Action notes and proof photo</a:t>
            </a:r>
          </a:p>
        </p:txBody>
      </p:sp>
      <p:sp>
        <p:nvSpPr>
          <p:cNvPr id="202" name="Right Arrow 201"/>
          <p:cNvSpPr/>
          <p:nvPr/>
        </p:nvSpPr>
        <p:spPr>
          <a:xfrm>
            <a:off x="14688312" y="4274820"/>
            <a:ext cx="329184" cy="274320"/>
          </a:xfrm>
          <a:prstGeom prst="rightArrow">
            <a:avLst/>
          </a:prstGeom>
          <a:solidFill>
            <a:srgbClr val="FF5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ounded Rectangle 202"/>
          <p:cNvSpPr/>
          <p:nvPr/>
        </p:nvSpPr>
        <p:spPr>
          <a:xfrm>
            <a:off x="15081503" y="3337560"/>
            <a:ext cx="2392680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15310103" y="3566160"/>
            <a:ext cx="502920" cy="502920"/>
          </a:xfrm>
          <a:prstGeom prst="ellipse">
            <a:avLst/>
          </a:prstGeom>
          <a:solidFill>
            <a:srgbClr val="157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15310103" y="4206240"/>
            <a:ext cx="20269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222222"/>
                </a:solidFill>
                <a:latin typeface="Calibri"/>
              </a:rPr>
              <a:t>Verify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15310103" y="4617720"/>
            <a:ext cx="2026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555555"/>
                </a:solidFill>
                <a:latin typeface="Calibri"/>
              </a:rPr>
              <a:t>AI compares before and after images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832104" y="5715000"/>
            <a:ext cx="1664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555555"/>
                </a:solidFill>
                <a:latin typeface="Calibri"/>
              </a:rPr>
              <a:t>COMPLAINT STATUS LIFECYCLE</a:t>
            </a:r>
          </a:p>
        </p:txBody>
      </p:sp>
      <p:sp>
        <p:nvSpPr>
          <p:cNvPr id="208" name="Rounded Rectangle 207"/>
          <p:cNvSpPr/>
          <p:nvPr/>
        </p:nvSpPr>
        <p:spPr>
          <a:xfrm>
            <a:off x="832104" y="6126480"/>
            <a:ext cx="2148840" cy="731520"/>
          </a:xfrm>
          <a:prstGeom prst="roundRect">
            <a:avLst>
              <a:gd name="adj" fmla="val 30000"/>
            </a:avLst>
          </a:prstGeom>
          <a:solidFill>
            <a:srgbClr val="E6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0" rIns="73152" bIns="0"/>
          <a:lstStyle/>
          <a:p>
            <a:pPr algn="ctr"/>
            <a:r>
              <a:rPr sz="1500" b="1" i="0">
                <a:solidFill>
                  <a:srgbClr val="15762B"/>
                </a:solidFill>
                <a:latin typeface="Calibri"/>
              </a:rPr>
              <a:t>REPORTED</a:t>
            </a:r>
          </a:p>
        </p:txBody>
      </p:sp>
      <p:sp>
        <p:nvSpPr>
          <p:cNvPr id="209" name="Right Arrow 208"/>
          <p:cNvSpPr/>
          <p:nvPr/>
        </p:nvSpPr>
        <p:spPr>
          <a:xfrm>
            <a:off x="3004566" y="6400800"/>
            <a:ext cx="219456" cy="182880"/>
          </a:xfrm>
          <a:prstGeom prst="rightArrow">
            <a:avLst/>
          </a:prstGeom>
          <a:solidFill>
            <a:srgbClr val="157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ounded Rectangle 209"/>
          <p:cNvSpPr/>
          <p:nvPr/>
        </p:nvSpPr>
        <p:spPr>
          <a:xfrm>
            <a:off x="3247644" y="6126480"/>
            <a:ext cx="2148840" cy="731520"/>
          </a:xfrm>
          <a:prstGeom prst="roundRect">
            <a:avLst>
              <a:gd name="adj" fmla="val 30000"/>
            </a:avLst>
          </a:prstGeom>
          <a:solidFill>
            <a:srgbClr val="E6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0" rIns="73152" bIns="0"/>
          <a:lstStyle/>
          <a:p>
            <a:pPr algn="ctr"/>
            <a:r>
              <a:rPr sz="1500" b="1" i="0">
                <a:solidFill>
                  <a:srgbClr val="15762B"/>
                </a:solidFill>
                <a:latin typeface="Calibri"/>
              </a:rPr>
              <a:t>AI ANALYZED</a:t>
            </a:r>
          </a:p>
        </p:txBody>
      </p:sp>
      <p:sp>
        <p:nvSpPr>
          <p:cNvPr id="211" name="Right Arrow 210"/>
          <p:cNvSpPr/>
          <p:nvPr/>
        </p:nvSpPr>
        <p:spPr>
          <a:xfrm>
            <a:off x="5420106" y="6400800"/>
            <a:ext cx="219456" cy="182880"/>
          </a:xfrm>
          <a:prstGeom prst="rightArrow">
            <a:avLst/>
          </a:prstGeom>
          <a:solidFill>
            <a:srgbClr val="157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ounded Rectangle 211"/>
          <p:cNvSpPr/>
          <p:nvPr/>
        </p:nvSpPr>
        <p:spPr>
          <a:xfrm>
            <a:off x="5663184" y="6126480"/>
            <a:ext cx="2148840" cy="731520"/>
          </a:xfrm>
          <a:prstGeom prst="roundRect">
            <a:avLst>
              <a:gd name="adj" fmla="val 30000"/>
            </a:avLst>
          </a:prstGeom>
          <a:solidFill>
            <a:srgbClr val="E6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0" rIns="73152" bIns="0"/>
          <a:lstStyle/>
          <a:p>
            <a:pPr algn="ctr"/>
            <a:r>
              <a:rPr sz="1500" b="1" i="0">
                <a:solidFill>
                  <a:srgbClr val="15762B"/>
                </a:solidFill>
                <a:latin typeface="Calibri"/>
              </a:rPr>
              <a:t>ASSIGNED</a:t>
            </a:r>
          </a:p>
        </p:txBody>
      </p:sp>
      <p:sp>
        <p:nvSpPr>
          <p:cNvPr id="213" name="Right Arrow 212"/>
          <p:cNvSpPr/>
          <p:nvPr/>
        </p:nvSpPr>
        <p:spPr>
          <a:xfrm>
            <a:off x="7835645" y="6400800"/>
            <a:ext cx="219456" cy="182880"/>
          </a:xfrm>
          <a:prstGeom prst="rightArrow">
            <a:avLst/>
          </a:prstGeom>
          <a:solidFill>
            <a:srgbClr val="157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ounded Rectangle 213"/>
          <p:cNvSpPr/>
          <p:nvPr/>
        </p:nvSpPr>
        <p:spPr>
          <a:xfrm>
            <a:off x="8078723" y="6126480"/>
            <a:ext cx="2148840" cy="731520"/>
          </a:xfrm>
          <a:prstGeom prst="roundRect">
            <a:avLst>
              <a:gd name="adj" fmla="val 30000"/>
            </a:avLst>
          </a:prstGeom>
          <a:solidFill>
            <a:srgbClr val="E6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0" rIns="73152" bIns="0"/>
          <a:lstStyle/>
          <a:p>
            <a:pPr algn="ctr"/>
            <a:r>
              <a:rPr sz="1500" b="1" i="0">
                <a:solidFill>
                  <a:srgbClr val="15762B"/>
                </a:solidFill>
                <a:latin typeface="Calibri"/>
              </a:rPr>
              <a:t>IN PROGRESS</a:t>
            </a:r>
          </a:p>
        </p:txBody>
      </p:sp>
      <p:sp>
        <p:nvSpPr>
          <p:cNvPr id="215" name="Right Arrow 214"/>
          <p:cNvSpPr/>
          <p:nvPr/>
        </p:nvSpPr>
        <p:spPr>
          <a:xfrm>
            <a:off x="10251185" y="6400800"/>
            <a:ext cx="219456" cy="182880"/>
          </a:xfrm>
          <a:prstGeom prst="rightArrow">
            <a:avLst/>
          </a:prstGeom>
          <a:solidFill>
            <a:srgbClr val="157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ounded Rectangle 215"/>
          <p:cNvSpPr/>
          <p:nvPr/>
        </p:nvSpPr>
        <p:spPr>
          <a:xfrm>
            <a:off x="10494264" y="6126480"/>
            <a:ext cx="2148840" cy="731520"/>
          </a:xfrm>
          <a:prstGeom prst="roundRect">
            <a:avLst>
              <a:gd name="adj" fmla="val 30000"/>
            </a:avLst>
          </a:prstGeom>
          <a:solidFill>
            <a:srgbClr val="E6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0" rIns="73152" bIns="0"/>
          <a:lstStyle/>
          <a:p>
            <a:pPr algn="ctr"/>
            <a:r>
              <a:rPr sz="1500" b="1" i="0">
                <a:solidFill>
                  <a:srgbClr val="15762B"/>
                </a:solidFill>
                <a:latin typeface="Calibri"/>
              </a:rPr>
              <a:t>RESOLUTION SUBMITTED</a:t>
            </a:r>
          </a:p>
        </p:txBody>
      </p:sp>
      <p:sp>
        <p:nvSpPr>
          <p:cNvPr id="217" name="Right Arrow 216"/>
          <p:cNvSpPr/>
          <p:nvPr/>
        </p:nvSpPr>
        <p:spPr>
          <a:xfrm>
            <a:off x="12666726" y="6400800"/>
            <a:ext cx="219456" cy="182880"/>
          </a:xfrm>
          <a:prstGeom prst="rightArrow">
            <a:avLst/>
          </a:prstGeom>
          <a:solidFill>
            <a:srgbClr val="157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ounded Rectangle 217"/>
          <p:cNvSpPr/>
          <p:nvPr/>
        </p:nvSpPr>
        <p:spPr>
          <a:xfrm>
            <a:off x="12909803" y="6126480"/>
            <a:ext cx="2148840" cy="731520"/>
          </a:xfrm>
          <a:prstGeom prst="roundRect">
            <a:avLst>
              <a:gd name="adj" fmla="val 30000"/>
            </a:avLst>
          </a:prstGeom>
          <a:solidFill>
            <a:srgbClr val="E6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0" rIns="73152" bIns="0"/>
          <a:lstStyle/>
          <a:p>
            <a:pPr algn="ctr"/>
            <a:r>
              <a:rPr sz="1500" b="1" i="0">
                <a:solidFill>
                  <a:srgbClr val="15762B"/>
                </a:solidFill>
                <a:latin typeface="Calibri"/>
              </a:rPr>
              <a:t>AI VERIFIED</a:t>
            </a:r>
          </a:p>
        </p:txBody>
      </p:sp>
      <p:sp>
        <p:nvSpPr>
          <p:cNvPr id="219" name="Right Arrow 218"/>
          <p:cNvSpPr/>
          <p:nvPr/>
        </p:nvSpPr>
        <p:spPr>
          <a:xfrm>
            <a:off x="15082266" y="6400800"/>
            <a:ext cx="219456" cy="182880"/>
          </a:xfrm>
          <a:prstGeom prst="rightArrow">
            <a:avLst/>
          </a:prstGeom>
          <a:solidFill>
            <a:srgbClr val="157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ounded Rectangle 219"/>
          <p:cNvSpPr/>
          <p:nvPr/>
        </p:nvSpPr>
        <p:spPr>
          <a:xfrm>
            <a:off x="15325343" y="6126480"/>
            <a:ext cx="2148840" cy="731520"/>
          </a:xfrm>
          <a:prstGeom prst="roundRect">
            <a:avLst>
              <a:gd name="adj" fmla="val 30000"/>
            </a:avLst>
          </a:prstGeom>
          <a:solidFill>
            <a:srgbClr val="157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0" rIns="73152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RESOLVED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832104" y="6949440"/>
            <a:ext cx="1664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1">
                <a:solidFill>
                  <a:srgbClr val="555555"/>
                </a:solidFill>
                <a:latin typeface="Calibri"/>
              </a:rPr>
              <a:t>If AI verification fails, the complaint moves to “Needs Review” and the authority can verify it manually.</a:t>
            </a:r>
          </a:p>
        </p:txBody>
      </p:sp>
      <p:sp>
        <p:nvSpPr>
          <p:cNvPr id="222" name="Rounded Rectangle 221"/>
          <p:cNvSpPr/>
          <p:nvPr/>
        </p:nvSpPr>
        <p:spPr>
          <a:xfrm>
            <a:off x="832104" y="7498079"/>
            <a:ext cx="16642080" cy="1828800"/>
          </a:xfrm>
          <a:prstGeom prst="roundRect">
            <a:avLst>
              <a:gd name="adj" fmla="val 8000"/>
            </a:avLst>
          </a:prstGeom>
          <a:solidFill>
            <a:srgbClr val="FFF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TextBox 222"/>
          <p:cNvSpPr txBox="1"/>
          <p:nvPr/>
        </p:nvSpPr>
        <p:spPr>
          <a:xfrm>
            <a:off x="1152144" y="7607808"/>
            <a:ext cx="1600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FF5C1F"/>
                </a:solidFill>
                <a:latin typeface="Calibri"/>
              </a:rPr>
              <a:t>PREDICTIVE LOOP — RUNS CONTINUOUSLY ALONGSIDE REPORTS</a:t>
            </a:r>
          </a:p>
        </p:txBody>
      </p:sp>
      <p:sp>
        <p:nvSpPr>
          <p:cNvPr id="224" name="Rounded Rectangle 223"/>
          <p:cNvSpPr/>
          <p:nvPr/>
        </p:nvSpPr>
        <p:spPr>
          <a:xfrm>
            <a:off x="1152144" y="8046720"/>
            <a:ext cx="365760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700" b="1" i="0">
                <a:solidFill>
                  <a:srgbClr val="222222"/>
                </a:solidFill>
                <a:latin typeface="Calibri"/>
              </a:rPr>
              <a:t>Complaint density, history and rainfall data</a:t>
            </a:r>
          </a:p>
        </p:txBody>
      </p:sp>
      <p:sp>
        <p:nvSpPr>
          <p:cNvPr id="225" name="Right Arrow 224"/>
          <p:cNvSpPr/>
          <p:nvPr/>
        </p:nvSpPr>
        <p:spPr>
          <a:xfrm>
            <a:off x="4892040" y="8444484"/>
            <a:ext cx="292608" cy="256032"/>
          </a:xfrm>
          <a:prstGeom prst="rightArrow">
            <a:avLst/>
          </a:prstGeom>
          <a:solidFill>
            <a:srgbClr val="FF5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ounded Rectangle 225"/>
          <p:cNvSpPr/>
          <p:nvPr/>
        </p:nvSpPr>
        <p:spPr>
          <a:xfrm>
            <a:off x="5266944" y="8046720"/>
            <a:ext cx="365760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700" b="1" i="0">
                <a:solidFill>
                  <a:srgbClr val="222222"/>
                </a:solidFill>
                <a:latin typeface="Calibri"/>
              </a:rPr>
              <a:t>Geographic cluster and pattern analysis</a:t>
            </a:r>
          </a:p>
        </p:txBody>
      </p:sp>
      <p:sp>
        <p:nvSpPr>
          <p:cNvPr id="227" name="Right Arrow 226"/>
          <p:cNvSpPr/>
          <p:nvPr/>
        </p:nvSpPr>
        <p:spPr>
          <a:xfrm>
            <a:off x="9006840" y="8444484"/>
            <a:ext cx="292608" cy="256032"/>
          </a:xfrm>
          <a:prstGeom prst="rightArrow">
            <a:avLst/>
          </a:prstGeom>
          <a:solidFill>
            <a:srgbClr val="FF5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ounded Rectangle 227"/>
          <p:cNvSpPr/>
          <p:nvPr/>
        </p:nvSpPr>
        <p:spPr>
          <a:xfrm>
            <a:off x="9381744" y="8046720"/>
            <a:ext cx="365760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700" b="1" i="0">
                <a:solidFill>
                  <a:srgbClr val="222222"/>
                </a:solidFill>
                <a:latin typeface="Calibri"/>
              </a:rPr>
              <a:t>Civic Risk Forecast with 0–100 risk score</a:t>
            </a:r>
          </a:p>
        </p:txBody>
      </p:sp>
      <p:sp>
        <p:nvSpPr>
          <p:cNvPr id="229" name="Right Arrow 228"/>
          <p:cNvSpPr/>
          <p:nvPr/>
        </p:nvSpPr>
        <p:spPr>
          <a:xfrm>
            <a:off x="13121640" y="8444484"/>
            <a:ext cx="292608" cy="256032"/>
          </a:xfrm>
          <a:prstGeom prst="rightArrow">
            <a:avLst/>
          </a:prstGeom>
          <a:solidFill>
            <a:srgbClr val="FF5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ounded Rectangle 229"/>
          <p:cNvSpPr/>
          <p:nvPr/>
        </p:nvSpPr>
        <p:spPr>
          <a:xfrm>
            <a:off x="13496544" y="8046720"/>
            <a:ext cx="365760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700" b="1" i="0">
                <a:solidFill>
                  <a:srgbClr val="222222"/>
                </a:solidFill>
                <a:latin typeface="Calibri"/>
              </a:rPr>
              <a:t>Preventive action before citizens report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5"/>
          <p:cNvSpPr/>
          <p:nvPr/>
        </p:nvSpPr>
        <p:spPr>
          <a:xfrm>
            <a:off x="4089950" y="0"/>
            <a:ext cx="10287000" cy="10594576"/>
          </a:xfrm>
          <a:custGeom>
            <a:rect b="b" l="l" r="r" t="t"/>
            <a:pathLst>
              <a:path extrusionOk="0" h="10594576" w="10287000">
                <a:moveTo>
                  <a:pt x="0" y="0"/>
                </a:moveTo>
                <a:lnTo>
                  <a:pt x="10287000" y="0"/>
                </a:lnTo>
                <a:lnTo>
                  <a:pt x="10287000" y="10594576"/>
                </a:lnTo>
                <a:lnTo>
                  <a:pt x="0" y="105945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494" r="-1494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183" name="Google Shape;183;p5"/>
          <p:cNvSpPr txBox="1"/>
          <p:nvPr/>
        </p:nvSpPr>
        <p:spPr>
          <a:xfrm>
            <a:off x="834817" y="1703982"/>
            <a:ext cx="5650309" cy="971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TECH STACK</a:t>
            </a:r>
            <a:endParaRPr/>
          </a:p>
        </p:txBody>
      </p:sp>
      <p:cxnSp>
        <p:nvCxnSpPr>
          <p:cNvPr id="184" name="Google Shape;184;p5"/>
          <p:cNvCxnSpPr/>
          <p:nvPr/>
        </p:nvCxnSpPr>
        <p:spPr>
          <a:xfrm>
            <a:off x="542379" y="1713507"/>
            <a:ext cx="0" cy="991268"/>
          </a:xfrm>
          <a:prstGeom prst="straightConnector1">
            <a:avLst/>
          </a:prstGeom>
          <a:noFill/>
          <a:ln cap="flat" cmpd="sng" w="190500">
            <a:solidFill>
              <a:srgbClr val="FF5C1F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85" name="Google Shape;185;p5"/>
          <p:cNvGrpSpPr/>
          <p:nvPr/>
        </p:nvGrpSpPr>
        <p:grpSpPr>
          <a:xfrm>
            <a:off x="6485126" y="2063156"/>
            <a:ext cx="11434084" cy="262728"/>
            <a:chOff x="0" y="0"/>
            <a:chExt cx="15245446" cy="350304"/>
          </a:xfrm>
        </p:grpSpPr>
        <p:cxnSp>
          <p:nvCxnSpPr>
            <p:cNvPr id="186" name="Google Shape;186;p5"/>
            <p:cNvCxnSpPr/>
            <p:nvPr/>
          </p:nvCxnSpPr>
          <p:spPr>
            <a:xfrm>
              <a:off x="0" y="175152"/>
              <a:ext cx="15140994" cy="0"/>
            </a:xfrm>
            <a:prstGeom prst="straightConnector1">
              <a:avLst/>
            </a:prstGeom>
            <a:noFill/>
            <a:ln cap="rnd" cmpd="sng" w="114300">
              <a:solidFill>
                <a:srgbClr val="FF5C1F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87" name="Google Shape;187;p5"/>
            <p:cNvGrpSpPr/>
            <p:nvPr/>
          </p:nvGrpSpPr>
          <p:grpSpPr>
            <a:xfrm>
              <a:off x="14895142" y="0"/>
              <a:ext cx="350304" cy="350304"/>
              <a:chOff x="0" y="0"/>
              <a:chExt cx="812800" cy="812800"/>
            </a:xfrm>
          </p:grpSpPr>
          <p:sp>
            <p:nvSpPr>
              <p:cNvPr id="188" name="Google Shape;188;p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5C1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" name="Google Shape;189;p5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22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90" name="Google Shape;190;p5"/>
          <p:cNvGrpSpPr/>
          <p:nvPr/>
        </p:nvGrpSpPr>
        <p:grpSpPr>
          <a:xfrm>
            <a:off x="557530" y="9566731"/>
            <a:ext cx="17098952" cy="540946"/>
            <a:chOff x="0" y="-192882"/>
            <a:chExt cx="22798602" cy="721262"/>
          </a:xfrm>
        </p:grpSpPr>
        <p:cxnSp>
          <p:nvCxnSpPr>
            <p:cNvPr id="191" name="Google Shape;191;p5"/>
            <p:cNvCxnSpPr/>
            <p:nvPr/>
          </p:nvCxnSpPr>
          <p:spPr>
            <a:xfrm>
              <a:off x="13731267" y="264190"/>
              <a:ext cx="9067335" cy="0"/>
            </a:xfrm>
            <a:prstGeom prst="straightConnector1">
              <a:avLst/>
            </a:prstGeom>
            <a:noFill/>
            <a:ln cap="flat" cmpd="sng" w="127000">
              <a:solidFill>
                <a:srgbClr val="15762B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92" name="Google Shape;192;p5"/>
            <p:cNvGrpSpPr/>
            <p:nvPr/>
          </p:nvGrpSpPr>
          <p:grpSpPr>
            <a:xfrm>
              <a:off x="8845075" y="-192882"/>
              <a:ext cx="4862999" cy="721262"/>
              <a:chOff x="0" y="-38100"/>
              <a:chExt cx="960592" cy="142471"/>
            </a:xfrm>
          </p:grpSpPr>
          <p:sp>
            <p:nvSpPr>
              <p:cNvPr id="193" name="Google Shape;193;p5"/>
              <p:cNvSpPr/>
              <p:nvPr/>
            </p:nvSpPr>
            <p:spPr>
              <a:xfrm>
                <a:off x="0" y="0"/>
                <a:ext cx="960592" cy="104371"/>
              </a:xfrm>
              <a:custGeom>
                <a:rect b="b" l="l" r="r" t="t"/>
                <a:pathLst>
                  <a:path extrusionOk="0" h="104371" w="960592">
                    <a:moveTo>
                      <a:pt x="0" y="0"/>
                    </a:moveTo>
                    <a:lnTo>
                      <a:pt x="960592" y="0"/>
                    </a:lnTo>
                    <a:lnTo>
                      <a:pt x="960592" y="104371"/>
                    </a:lnTo>
                    <a:lnTo>
                      <a:pt x="0" y="10437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94" name="Google Shape;194;p5"/>
              <p:cNvSpPr txBox="1"/>
              <p:nvPr/>
            </p:nvSpPr>
            <p:spPr>
              <a:xfrm>
                <a:off x="0" y="-38100"/>
                <a:ext cx="960592" cy="1424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22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95" name="Google Shape;195;p5"/>
            <p:cNvSpPr txBox="1"/>
            <p:nvPr/>
          </p:nvSpPr>
          <p:spPr>
            <a:xfrm>
              <a:off x="8999457" y="35636"/>
              <a:ext cx="4708617" cy="4255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77" u="none" cap="none" strike="noStrike">
                  <a:solidFill>
                    <a:srgbClr val="000000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BUILD WITH </a:t>
              </a:r>
              <a:r>
                <a:rPr b="1" i="0" lang="en-US" sz="1877" u="none" cap="none" strike="noStrike">
                  <a:solidFill>
                    <a:srgbClr val="FF5C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भारत4.0</a:t>
              </a:r>
              <a:endParaRPr/>
            </a:p>
          </p:txBody>
        </p:sp>
        <p:cxnSp>
          <p:nvCxnSpPr>
            <p:cNvPr id="196" name="Google Shape;196;p5"/>
            <p:cNvCxnSpPr/>
            <p:nvPr/>
          </p:nvCxnSpPr>
          <p:spPr>
            <a:xfrm>
              <a:off x="0" y="264190"/>
              <a:ext cx="8845075" cy="0"/>
            </a:xfrm>
            <a:prstGeom prst="straightConnector1">
              <a:avLst/>
            </a:prstGeom>
            <a:noFill/>
            <a:ln cap="flat" cmpd="sng" w="127000">
              <a:solidFill>
                <a:srgbClr val="FF5C1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97" name="Google Shape;197;p5"/>
          <p:cNvSpPr/>
          <p:nvPr/>
        </p:nvSpPr>
        <p:spPr>
          <a:xfrm>
            <a:off x="9443814" y="71389"/>
            <a:ext cx="2442694" cy="1795778"/>
          </a:xfrm>
          <a:custGeom>
            <a:rect b="b" l="l" r="r" t="t"/>
            <a:pathLst>
              <a:path extrusionOk="0" h="1795778" w="2442694">
                <a:moveTo>
                  <a:pt x="0" y="0"/>
                </a:moveTo>
                <a:lnTo>
                  <a:pt x="2442694" y="0"/>
                </a:lnTo>
                <a:lnTo>
                  <a:pt x="2442694" y="1795778"/>
                </a:lnTo>
                <a:lnTo>
                  <a:pt x="0" y="17957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4341" l="0" r="0" t="-21680"/>
            </a:stretch>
          </a:blipFill>
          <a:ln>
            <a:noFill/>
          </a:ln>
        </p:spPr>
        <p:txBody>
          <a:bodyPr/>
          <a:p/>
        </p:txBody>
      </p:sp>
      <p:pic>
        <p:nvPicPr>
          <p:cNvPr id="198" name="Google Shape;198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57738" y="83378"/>
            <a:ext cx="1393754" cy="1672504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Rounded Rectangle 198"/>
          <p:cNvSpPr/>
          <p:nvPr/>
        </p:nvSpPr>
        <p:spPr>
          <a:xfrm>
            <a:off x="832104" y="3337560"/>
            <a:ext cx="3920489" cy="3794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1106424" y="3520440"/>
            <a:ext cx="337184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FF5C1F"/>
                </a:solidFill>
                <a:latin typeface="Calibri"/>
              </a:rPr>
              <a:t>Frontend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1106424" y="4160520"/>
            <a:ext cx="3463289" cy="2834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256032" indent="-256032">
              <a:spcAft>
                <a:spcPts val="900"/>
              </a:spcAft>
              <a:buClr>
                <a:srgbClr val="FF5C1F"/>
              </a:buClr>
              <a:buChar char="•"/>
            </a:pPr>
            <a:r>
              <a:rPr sz="2000" b="0" i="0">
                <a:solidFill>
                  <a:srgbClr val="222222"/>
                </a:solidFill>
                <a:latin typeface="Calibri"/>
              </a:rPr>
              <a:t>React + Vite</a:t>
            </a:r>
          </a:p>
          <a:p>
            <a:pPr algn="l" marL="256032" indent="-256032">
              <a:spcAft>
                <a:spcPts val="900"/>
              </a:spcAft>
              <a:buClr>
                <a:srgbClr val="FF5C1F"/>
              </a:buClr>
              <a:buChar char="•"/>
            </a:pPr>
            <a:r>
              <a:rPr sz="2000" b="0" i="0">
                <a:solidFill>
                  <a:srgbClr val="222222"/>
                </a:solidFill>
                <a:latin typeface="Calibri"/>
              </a:rPr>
              <a:t>Tailwind CSS</a:t>
            </a:r>
          </a:p>
          <a:p>
            <a:pPr algn="l" marL="256032" indent="-256032">
              <a:spcAft>
                <a:spcPts val="900"/>
              </a:spcAft>
              <a:buClr>
                <a:srgbClr val="FF5C1F"/>
              </a:buClr>
              <a:buChar char="•"/>
            </a:pPr>
            <a:r>
              <a:rPr sz="2000" b="0" i="0">
                <a:solidFill>
                  <a:srgbClr val="222222"/>
                </a:solidFill>
                <a:latin typeface="Calibri"/>
              </a:rPr>
              <a:t>React Router</a:t>
            </a:r>
          </a:p>
          <a:p>
            <a:pPr algn="l" marL="256032" indent="-256032">
              <a:spcAft>
                <a:spcPts val="900"/>
              </a:spcAft>
              <a:buClr>
                <a:srgbClr val="FF5C1F"/>
              </a:buClr>
              <a:buChar char="•"/>
            </a:pPr>
            <a:r>
              <a:rPr sz="2000" b="0" i="0">
                <a:solidFill>
                  <a:srgbClr val="222222"/>
                </a:solidFill>
                <a:latin typeface="Calibri"/>
              </a:rPr>
              <a:t>Leaflet + OpenStreetMap</a:t>
            </a:r>
          </a:p>
          <a:p>
            <a:pPr algn="l" marL="256032" indent="-256032">
              <a:spcAft>
                <a:spcPts val="900"/>
              </a:spcAft>
              <a:buClr>
                <a:srgbClr val="FF5C1F"/>
              </a:buClr>
              <a:buChar char="•"/>
            </a:pPr>
            <a:r>
              <a:rPr sz="2000" b="0" i="0">
                <a:solidFill>
                  <a:srgbClr val="222222"/>
                </a:solidFill>
                <a:latin typeface="Calibri"/>
              </a:rPr>
              <a:t>Recharts analytics</a:t>
            </a:r>
          </a:p>
          <a:p>
            <a:pPr algn="l" marL="256032" indent="-256032">
              <a:spcAft>
                <a:spcPts val="900"/>
              </a:spcAft>
              <a:buClr>
                <a:srgbClr val="FF5C1F"/>
              </a:buClr>
              <a:buChar char="•"/>
            </a:pPr>
            <a:r>
              <a:rPr sz="2000" b="0" i="0">
                <a:solidFill>
                  <a:srgbClr val="222222"/>
                </a:solidFill>
                <a:latin typeface="Calibri"/>
              </a:rPr>
              <a:t>Lucide React icons</a:t>
            </a:r>
          </a:p>
        </p:txBody>
      </p:sp>
      <p:sp>
        <p:nvSpPr>
          <p:cNvPr id="202" name="Rounded Rectangle 201"/>
          <p:cNvSpPr/>
          <p:nvPr/>
        </p:nvSpPr>
        <p:spPr>
          <a:xfrm>
            <a:off x="5072633" y="3337560"/>
            <a:ext cx="3920489" cy="3794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5346953" y="3520440"/>
            <a:ext cx="337184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FF5C1F"/>
                </a:solidFill>
                <a:latin typeface="Calibri"/>
              </a:rPr>
              <a:t>Backend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5346953" y="4160520"/>
            <a:ext cx="3463289" cy="2834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256032" indent="-256032">
              <a:spcAft>
                <a:spcPts val="900"/>
              </a:spcAft>
              <a:buClr>
                <a:srgbClr val="FF5C1F"/>
              </a:buClr>
              <a:buChar char="•"/>
            </a:pPr>
            <a:r>
              <a:rPr sz="2000" b="0" i="0">
                <a:solidFill>
                  <a:srgbClr val="222222"/>
                </a:solidFill>
                <a:latin typeface="Calibri"/>
              </a:rPr>
              <a:t>Node.js + Express</a:t>
            </a:r>
          </a:p>
          <a:p>
            <a:pPr algn="l" marL="256032" indent="-256032">
              <a:spcAft>
                <a:spcPts val="900"/>
              </a:spcAft>
              <a:buClr>
                <a:srgbClr val="FF5C1F"/>
              </a:buClr>
              <a:buChar char="•"/>
            </a:pPr>
            <a:r>
              <a:rPr sz="2000" b="0" i="0">
                <a:solidFill>
                  <a:srgbClr val="222222"/>
                </a:solidFill>
                <a:latin typeface="Calibri"/>
              </a:rPr>
              <a:t>MongoDB + Mongoose</a:t>
            </a:r>
          </a:p>
          <a:p>
            <a:pPr algn="l" marL="256032" indent="-256032">
              <a:spcAft>
                <a:spcPts val="900"/>
              </a:spcAft>
              <a:buClr>
                <a:srgbClr val="FF5C1F"/>
              </a:buClr>
              <a:buChar char="•"/>
            </a:pPr>
            <a:r>
              <a:rPr sz="2000" b="0" i="0">
                <a:solidFill>
                  <a:srgbClr val="222222"/>
                </a:solidFill>
                <a:latin typeface="Calibri"/>
              </a:rPr>
              <a:t>JWT authentication</a:t>
            </a:r>
          </a:p>
          <a:p>
            <a:pPr algn="l" marL="256032" indent="-256032">
              <a:spcAft>
                <a:spcPts val="900"/>
              </a:spcAft>
              <a:buClr>
                <a:srgbClr val="FF5C1F"/>
              </a:buClr>
              <a:buChar char="•"/>
            </a:pPr>
            <a:r>
              <a:rPr sz="2000" b="0" i="0">
                <a:solidFill>
                  <a:srgbClr val="222222"/>
                </a:solidFill>
                <a:latin typeface="Calibri"/>
              </a:rPr>
              <a:t>Role-based authorization</a:t>
            </a:r>
          </a:p>
          <a:p>
            <a:pPr algn="l" marL="256032" indent="-256032">
              <a:spcAft>
                <a:spcPts val="900"/>
              </a:spcAft>
              <a:buClr>
                <a:srgbClr val="FF5C1F"/>
              </a:buClr>
              <a:buChar char="•"/>
            </a:pPr>
            <a:r>
              <a:rPr sz="2000" b="0" i="0">
                <a:solidFill>
                  <a:srgbClr val="222222"/>
                </a:solidFill>
                <a:latin typeface="Calibri"/>
              </a:rPr>
              <a:t>Input and file validation</a:t>
            </a:r>
          </a:p>
          <a:p>
            <a:pPr algn="l" marL="256032" indent="-256032">
              <a:spcAft>
                <a:spcPts val="900"/>
              </a:spcAft>
              <a:buClr>
                <a:srgbClr val="FF5C1F"/>
              </a:buClr>
              <a:buChar char="•"/>
            </a:pPr>
            <a:r>
              <a:rPr sz="2000" b="0" i="0">
                <a:solidFill>
                  <a:srgbClr val="222222"/>
                </a:solidFill>
                <a:latin typeface="Calibri"/>
              </a:rPr>
              <a:t>REST APIs</a:t>
            </a:r>
          </a:p>
        </p:txBody>
      </p:sp>
      <p:sp>
        <p:nvSpPr>
          <p:cNvPr id="205" name="Rounded Rectangle 204"/>
          <p:cNvSpPr/>
          <p:nvPr/>
        </p:nvSpPr>
        <p:spPr>
          <a:xfrm>
            <a:off x="9313163" y="3337560"/>
            <a:ext cx="3920489" cy="3794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9587484" y="3520440"/>
            <a:ext cx="337184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5762B"/>
                </a:solidFill>
                <a:latin typeface="Calibri"/>
              </a:rPr>
              <a:t>AI layer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9587484" y="4160520"/>
            <a:ext cx="3463289" cy="2834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256032" indent="-256032">
              <a:spcAft>
                <a:spcPts val="900"/>
              </a:spcAft>
              <a:buClr>
                <a:srgbClr val="15762B"/>
              </a:buClr>
              <a:buChar char="•"/>
            </a:pPr>
            <a:r>
              <a:rPr sz="2000" b="0" i="0">
                <a:solidFill>
                  <a:srgbClr val="222222"/>
                </a:solidFill>
                <a:latin typeface="Calibri"/>
              </a:rPr>
              <a:t>Gemini / OpenAI (env config)</a:t>
            </a:r>
          </a:p>
          <a:p>
            <a:pPr algn="l" marL="256032" indent="-256032">
              <a:spcAft>
                <a:spcPts val="900"/>
              </a:spcAft>
              <a:buClr>
                <a:srgbClr val="15762B"/>
              </a:buClr>
              <a:buChar char="•"/>
            </a:pPr>
            <a:r>
              <a:rPr sz="2000" b="0" i="0">
                <a:solidFill>
                  <a:srgbClr val="222222"/>
                </a:solidFill>
                <a:latin typeface="Calibri"/>
              </a:rPr>
              <a:t>Vision + text analysis</a:t>
            </a:r>
          </a:p>
          <a:p>
            <a:pPr algn="l" marL="256032" indent="-256032">
              <a:spcAft>
                <a:spcPts val="900"/>
              </a:spcAft>
              <a:buClr>
                <a:srgbClr val="15762B"/>
              </a:buClr>
              <a:buChar char="•"/>
            </a:pPr>
            <a:r>
              <a:rPr sz="2000" b="0" i="0">
                <a:solidFill>
                  <a:srgbClr val="222222"/>
                </a:solidFill>
                <a:latin typeface="Calibri"/>
              </a:rPr>
              <a:t>Priority scoring engine</a:t>
            </a:r>
          </a:p>
          <a:p>
            <a:pPr algn="l" marL="256032" indent="-256032">
              <a:spcAft>
                <a:spcPts val="900"/>
              </a:spcAft>
              <a:buClr>
                <a:srgbClr val="15762B"/>
              </a:buClr>
              <a:buChar char="•"/>
            </a:pPr>
            <a:r>
              <a:rPr sz="2000" b="0" i="0">
                <a:solidFill>
                  <a:srgbClr val="222222"/>
                </a:solidFill>
                <a:latin typeface="Calibri"/>
              </a:rPr>
              <a:t>Risk prediction service</a:t>
            </a:r>
          </a:p>
          <a:p>
            <a:pPr algn="l" marL="256032" indent="-256032">
              <a:spcAft>
                <a:spcPts val="900"/>
              </a:spcAft>
              <a:buClr>
                <a:srgbClr val="15762B"/>
              </a:buClr>
              <a:buChar char="•"/>
            </a:pPr>
            <a:r>
              <a:rPr sz="2000" b="0" i="0">
                <a:solidFill>
                  <a:srgbClr val="222222"/>
                </a:solidFill>
                <a:latin typeface="Calibri"/>
              </a:rPr>
              <a:t>Resolution verification</a:t>
            </a:r>
          </a:p>
          <a:p>
            <a:pPr algn="l" marL="256032" indent="-256032">
              <a:spcAft>
                <a:spcPts val="900"/>
              </a:spcAft>
              <a:buClr>
                <a:srgbClr val="15762B"/>
              </a:buClr>
              <a:buChar char="•"/>
            </a:pPr>
            <a:r>
              <a:rPr sz="2000" b="0" i="0">
                <a:solidFill>
                  <a:srgbClr val="222222"/>
                </a:solidFill>
                <a:latin typeface="Calibri"/>
              </a:rPr>
              <a:t>Demo fallback provider</a:t>
            </a:r>
          </a:p>
        </p:txBody>
      </p:sp>
      <p:sp>
        <p:nvSpPr>
          <p:cNvPr id="208" name="Rounded Rectangle 207"/>
          <p:cNvSpPr/>
          <p:nvPr/>
        </p:nvSpPr>
        <p:spPr>
          <a:xfrm>
            <a:off x="13553693" y="3337560"/>
            <a:ext cx="3920489" cy="3794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TextBox 208"/>
          <p:cNvSpPr txBox="1"/>
          <p:nvPr/>
        </p:nvSpPr>
        <p:spPr>
          <a:xfrm>
            <a:off x="13828013" y="3520440"/>
            <a:ext cx="337184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5762B"/>
                </a:solidFill>
                <a:latin typeface="Calibri"/>
              </a:rPr>
              <a:t>Data &amp; services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13828013" y="4160520"/>
            <a:ext cx="3463289" cy="2834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256032" indent="-256032">
              <a:spcAft>
                <a:spcPts val="900"/>
              </a:spcAft>
              <a:buClr>
                <a:srgbClr val="15762B"/>
              </a:buClr>
              <a:buChar char="•"/>
            </a:pPr>
            <a:r>
              <a:rPr sz="2000" b="0" i="0">
                <a:solidFill>
                  <a:srgbClr val="222222"/>
                </a:solidFill>
                <a:latin typeface="Calibri"/>
              </a:rPr>
              <a:t>Cloudinary (optional)</a:t>
            </a:r>
          </a:p>
          <a:p>
            <a:pPr algn="l" marL="256032" indent="-256032">
              <a:spcAft>
                <a:spcPts val="900"/>
              </a:spcAft>
              <a:buClr>
                <a:srgbClr val="15762B"/>
              </a:buClr>
              <a:buChar char="•"/>
            </a:pPr>
            <a:r>
              <a:rPr sz="2000" b="0" i="0">
                <a:solidFill>
                  <a:srgbClr val="222222"/>
                </a:solidFill>
                <a:latin typeface="Calibri"/>
              </a:rPr>
              <a:t>Weather API (optional)</a:t>
            </a:r>
          </a:p>
          <a:p>
            <a:pPr algn="l" marL="256032" indent="-256032">
              <a:spcAft>
                <a:spcPts val="900"/>
              </a:spcAft>
              <a:buClr>
                <a:srgbClr val="15762B"/>
              </a:buClr>
              <a:buChar char="•"/>
            </a:pPr>
            <a:r>
              <a:rPr sz="2000" b="0" i="0">
                <a:solidFill>
                  <a:srgbClr val="222222"/>
                </a:solidFill>
                <a:latin typeface="Calibri"/>
              </a:rPr>
              <a:t>Indexed complaint queries</a:t>
            </a:r>
          </a:p>
          <a:p>
            <a:pPr algn="l" marL="256032" indent="-256032">
              <a:spcAft>
                <a:spcPts val="900"/>
              </a:spcAft>
              <a:buClr>
                <a:srgbClr val="15762B"/>
              </a:buClr>
              <a:buChar char="•"/>
            </a:pPr>
            <a:r>
              <a:rPr sz="2000" b="0" i="0">
                <a:solidFill>
                  <a:srgbClr val="222222"/>
                </a:solidFill>
                <a:latin typeface="Calibri"/>
              </a:rPr>
              <a:t>Secrets in .env only</a:t>
            </a:r>
          </a:p>
          <a:p>
            <a:pPr algn="l" marL="256032" indent="-256032">
              <a:spcAft>
                <a:spcPts val="900"/>
              </a:spcAft>
              <a:buClr>
                <a:srgbClr val="15762B"/>
              </a:buClr>
              <a:buChar char="•"/>
            </a:pPr>
            <a:r>
              <a:rPr sz="2000" b="0" i="0">
                <a:solidFill>
                  <a:srgbClr val="222222"/>
                </a:solidFill>
                <a:latin typeface="Calibri"/>
              </a:rPr>
              <a:t>Paginated APIs</a:t>
            </a:r>
          </a:p>
          <a:p>
            <a:pPr algn="l" marL="256032" indent="-256032">
              <a:spcAft>
                <a:spcPts val="900"/>
              </a:spcAft>
              <a:buClr>
                <a:srgbClr val="15762B"/>
              </a:buClr>
              <a:buChar char="•"/>
            </a:pPr>
            <a:r>
              <a:rPr sz="2000" b="0" i="0">
                <a:solidFill>
                  <a:srgbClr val="222222"/>
                </a:solidFill>
                <a:latin typeface="Calibri"/>
              </a:rPr>
              <a:t>Seeded demo dataset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832104" y="7315200"/>
            <a:ext cx="1664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555555"/>
                </a:solidFill>
                <a:latin typeface="Calibri"/>
              </a:rPr>
              <a:t>IMPLEMENTATION APPROACH</a:t>
            </a:r>
          </a:p>
        </p:txBody>
      </p:sp>
      <p:sp>
        <p:nvSpPr>
          <p:cNvPr id="212" name="Rounded Rectangle 211"/>
          <p:cNvSpPr/>
          <p:nvPr/>
        </p:nvSpPr>
        <p:spPr>
          <a:xfrm>
            <a:off x="832104" y="7772400"/>
            <a:ext cx="3920489" cy="1554480"/>
          </a:xfrm>
          <a:prstGeom prst="roundRect">
            <a:avLst>
              <a:gd name="adj" fmla="val 8000"/>
            </a:avLst>
          </a:prstGeom>
          <a:solidFill>
            <a:srgbClr val="FFF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1060704" y="7955279"/>
            <a:ext cx="457200" cy="457200"/>
          </a:xfrm>
          <a:prstGeom prst="ellipse">
            <a:avLst/>
          </a:prstGeom>
          <a:solidFill>
            <a:srgbClr val="FF5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1700784" y="7955279"/>
            <a:ext cx="2914649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1" i="0">
                <a:solidFill>
                  <a:srgbClr val="222222"/>
                </a:solidFill>
                <a:latin typeface="Calibri"/>
              </a:rPr>
              <a:t>Foundation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1106424" y="8503920"/>
            <a:ext cx="341757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555555"/>
                </a:solidFill>
                <a:latin typeface="Calibri"/>
              </a:rPr>
              <a:t>Auth, roles, data models, complaint APIs</a:t>
            </a:r>
          </a:p>
        </p:txBody>
      </p:sp>
      <p:sp>
        <p:nvSpPr>
          <p:cNvPr id="216" name="Rounded Rectangle 215"/>
          <p:cNvSpPr/>
          <p:nvPr/>
        </p:nvSpPr>
        <p:spPr>
          <a:xfrm>
            <a:off x="5072633" y="7772400"/>
            <a:ext cx="3920489" cy="1554480"/>
          </a:xfrm>
          <a:prstGeom prst="roundRect">
            <a:avLst>
              <a:gd name="adj" fmla="val 8000"/>
            </a:avLst>
          </a:prstGeom>
          <a:solidFill>
            <a:srgbClr val="FFF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5301233" y="7955279"/>
            <a:ext cx="457200" cy="457200"/>
          </a:xfrm>
          <a:prstGeom prst="ellipse">
            <a:avLst/>
          </a:prstGeom>
          <a:solidFill>
            <a:srgbClr val="FF5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5941314" y="7955279"/>
            <a:ext cx="2914649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1" i="0">
                <a:solidFill>
                  <a:srgbClr val="222222"/>
                </a:solidFill>
                <a:latin typeface="Calibri"/>
              </a:rPr>
              <a:t>AI services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5346953" y="8503920"/>
            <a:ext cx="341757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555555"/>
                </a:solidFill>
                <a:latin typeface="Calibri"/>
              </a:rPr>
              <a:t>Analysis, priority and verification with mock fallback</a:t>
            </a:r>
          </a:p>
        </p:txBody>
      </p:sp>
      <p:sp>
        <p:nvSpPr>
          <p:cNvPr id="220" name="Rounded Rectangle 219"/>
          <p:cNvSpPr/>
          <p:nvPr/>
        </p:nvSpPr>
        <p:spPr>
          <a:xfrm>
            <a:off x="9313163" y="7772400"/>
            <a:ext cx="3920489" cy="1554480"/>
          </a:xfrm>
          <a:prstGeom prst="roundRect">
            <a:avLst>
              <a:gd name="adj" fmla="val 8000"/>
            </a:avLst>
          </a:prstGeom>
          <a:solidFill>
            <a:srgbClr val="FFF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9541763" y="7955279"/>
            <a:ext cx="457200" cy="457200"/>
          </a:xfrm>
          <a:prstGeom prst="ellipse">
            <a:avLst/>
          </a:prstGeom>
          <a:solidFill>
            <a:srgbClr val="FF5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10181843" y="7955279"/>
            <a:ext cx="2914649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1" i="0">
                <a:solidFill>
                  <a:srgbClr val="222222"/>
                </a:solidFill>
                <a:latin typeface="Calibri"/>
              </a:rPr>
              <a:t>Intelligence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9587484" y="8503920"/>
            <a:ext cx="341757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555555"/>
                </a:solidFill>
                <a:latin typeface="Calibri"/>
              </a:rPr>
              <a:t>Risk forecast, hotspot map and analytics</a:t>
            </a:r>
          </a:p>
        </p:txBody>
      </p:sp>
      <p:sp>
        <p:nvSpPr>
          <p:cNvPr id="224" name="Rounded Rectangle 223"/>
          <p:cNvSpPr/>
          <p:nvPr/>
        </p:nvSpPr>
        <p:spPr>
          <a:xfrm>
            <a:off x="13553693" y="7772400"/>
            <a:ext cx="3920489" cy="1554480"/>
          </a:xfrm>
          <a:prstGeom prst="roundRect">
            <a:avLst>
              <a:gd name="adj" fmla="val 8000"/>
            </a:avLst>
          </a:prstGeom>
          <a:solidFill>
            <a:srgbClr val="FFF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13782293" y="7955279"/>
            <a:ext cx="457200" cy="457200"/>
          </a:xfrm>
          <a:prstGeom prst="ellipse">
            <a:avLst/>
          </a:prstGeom>
          <a:solidFill>
            <a:srgbClr val="FF5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14422373" y="7955279"/>
            <a:ext cx="2914649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1" i="0">
                <a:solidFill>
                  <a:srgbClr val="222222"/>
                </a:solidFill>
                <a:latin typeface="Calibri"/>
              </a:rPr>
              <a:t>Polish &amp; demo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13828013" y="8503920"/>
            <a:ext cx="341757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555555"/>
                </a:solidFill>
                <a:latin typeface="Calibri"/>
              </a:rPr>
              <a:t>Seed data, responsive UI and README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6"/>
          <p:cNvSpPr/>
          <p:nvPr/>
        </p:nvSpPr>
        <p:spPr>
          <a:xfrm>
            <a:off x="4089950" y="0"/>
            <a:ext cx="10287000" cy="10594576"/>
          </a:xfrm>
          <a:custGeom>
            <a:rect b="b" l="l" r="r" t="t"/>
            <a:pathLst>
              <a:path extrusionOk="0" h="10594576" w="10287000">
                <a:moveTo>
                  <a:pt x="0" y="0"/>
                </a:moveTo>
                <a:lnTo>
                  <a:pt x="10287000" y="0"/>
                </a:lnTo>
                <a:lnTo>
                  <a:pt x="10287000" y="10594576"/>
                </a:lnTo>
                <a:lnTo>
                  <a:pt x="0" y="105945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494" r="-1494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204" name="Google Shape;204;p6"/>
          <p:cNvSpPr txBox="1"/>
          <p:nvPr/>
        </p:nvSpPr>
        <p:spPr>
          <a:xfrm>
            <a:off x="834817" y="1703982"/>
            <a:ext cx="14041391" cy="847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UNIQUE SELLING PROPOSITION (USP)</a:t>
            </a:r>
            <a:endParaRPr/>
          </a:p>
        </p:txBody>
      </p:sp>
      <p:cxnSp>
        <p:nvCxnSpPr>
          <p:cNvPr id="205" name="Google Shape;205;p6"/>
          <p:cNvCxnSpPr/>
          <p:nvPr/>
        </p:nvCxnSpPr>
        <p:spPr>
          <a:xfrm>
            <a:off x="542379" y="1713507"/>
            <a:ext cx="0" cy="991268"/>
          </a:xfrm>
          <a:prstGeom prst="straightConnector1">
            <a:avLst/>
          </a:prstGeom>
          <a:noFill/>
          <a:ln cap="flat" cmpd="sng" w="190500">
            <a:solidFill>
              <a:srgbClr val="FF5C1F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06" name="Google Shape;206;p6"/>
          <p:cNvGrpSpPr/>
          <p:nvPr/>
        </p:nvGrpSpPr>
        <p:grpSpPr>
          <a:xfrm>
            <a:off x="14876208" y="2001244"/>
            <a:ext cx="3043003" cy="262728"/>
            <a:chOff x="0" y="0"/>
            <a:chExt cx="4057337" cy="350304"/>
          </a:xfrm>
        </p:grpSpPr>
        <p:cxnSp>
          <p:nvCxnSpPr>
            <p:cNvPr id="207" name="Google Shape;207;p6"/>
            <p:cNvCxnSpPr/>
            <p:nvPr/>
          </p:nvCxnSpPr>
          <p:spPr>
            <a:xfrm>
              <a:off x="0" y="175152"/>
              <a:ext cx="3882184" cy="0"/>
            </a:xfrm>
            <a:prstGeom prst="straightConnector1">
              <a:avLst/>
            </a:prstGeom>
            <a:noFill/>
            <a:ln cap="rnd" cmpd="sng" w="114300">
              <a:solidFill>
                <a:srgbClr val="FF5C1F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208" name="Google Shape;208;p6"/>
            <p:cNvGrpSpPr/>
            <p:nvPr/>
          </p:nvGrpSpPr>
          <p:grpSpPr>
            <a:xfrm>
              <a:off x="3707033" y="0"/>
              <a:ext cx="350304" cy="350304"/>
              <a:chOff x="0" y="0"/>
              <a:chExt cx="812800" cy="812800"/>
            </a:xfrm>
          </p:grpSpPr>
          <p:sp>
            <p:nvSpPr>
              <p:cNvPr id="209" name="Google Shape;209;p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5C1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6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22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11" name="Google Shape;211;p6"/>
          <p:cNvGrpSpPr/>
          <p:nvPr/>
        </p:nvGrpSpPr>
        <p:grpSpPr>
          <a:xfrm>
            <a:off x="557530" y="9566731"/>
            <a:ext cx="17098952" cy="540946"/>
            <a:chOff x="0" y="-192882"/>
            <a:chExt cx="22798602" cy="721262"/>
          </a:xfrm>
        </p:grpSpPr>
        <p:cxnSp>
          <p:nvCxnSpPr>
            <p:cNvPr id="212" name="Google Shape;212;p6"/>
            <p:cNvCxnSpPr/>
            <p:nvPr/>
          </p:nvCxnSpPr>
          <p:spPr>
            <a:xfrm>
              <a:off x="13731267" y="264190"/>
              <a:ext cx="9067335" cy="0"/>
            </a:xfrm>
            <a:prstGeom prst="straightConnector1">
              <a:avLst/>
            </a:prstGeom>
            <a:noFill/>
            <a:ln cap="flat" cmpd="sng" w="127000">
              <a:solidFill>
                <a:srgbClr val="15762B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213" name="Google Shape;213;p6"/>
            <p:cNvGrpSpPr/>
            <p:nvPr/>
          </p:nvGrpSpPr>
          <p:grpSpPr>
            <a:xfrm>
              <a:off x="8845075" y="-192882"/>
              <a:ext cx="4862999" cy="721262"/>
              <a:chOff x="0" y="-38100"/>
              <a:chExt cx="960592" cy="142471"/>
            </a:xfrm>
          </p:grpSpPr>
          <p:sp>
            <p:nvSpPr>
              <p:cNvPr id="214" name="Google Shape;214;p6"/>
              <p:cNvSpPr/>
              <p:nvPr/>
            </p:nvSpPr>
            <p:spPr>
              <a:xfrm>
                <a:off x="0" y="0"/>
                <a:ext cx="960592" cy="104371"/>
              </a:xfrm>
              <a:custGeom>
                <a:rect b="b" l="l" r="r" t="t"/>
                <a:pathLst>
                  <a:path extrusionOk="0" h="104371" w="960592">
                    <a:moveTo>
                      <a:pt x="0" y="0"/>
                    </a:moveTo>
                    <a:lnTo>
                      <a:pt x="960592" y="0"/>
                    </a:lnTo>
                    <a:lnTo>
                      <a:pt x="960592" y="104371"/>
                    </a:lnTo>
                    <a:lnTo>
                      <a:pt x="0" y="10437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15" name="Google Shape;215;p6"/>
              <p:cNvSpPr txBox="1"/>
              <p:nvPr/>
            </p:nvSpPr>
            <p:spPr>
              <a:xfrm>
                <a:off x="0" y="-38100"/>
                <a:ext cx="960592" cy="1424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22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16" name="Google Shape;216;p6"/>
            <p:cNvSpPr txBox="1"/>
            <p:nvPr/>
          </p:nvSpPr>
          <p:spPr>
            <a:xfrm>
              <a:off x="8999457" y="35636"/>
              <a:ext cx="4708617" cy="4255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77" u="none" cap="none" strike="noStrike">
                  <a:solidFill>
                    <a:srgbClr val="000000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BUILD WITH </a:t>
              </a:r>
              <a:r>
                <a:rPr b="1" i="0" lang="en-US" sz="1877" u="none" cap="none" strike="noStrike">
                  <a:solidFill>
                    <a:srgbClr val="FF5C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भारत4.0</a:t>
              </a:r>
              <a:endParaRPr/>
            </a:p>
          </p:txBody>
        </p:sp>
        <p:cxnSp>
          <p:nvCxnSpPr>
            <p:cNvPr id="217" name="Google Shape;217;p6"/>
            <p:cNvCxnSpPr/>
            <p:nvPr/>
          </p:nvCxnSpPr>
          <p:spPr>
            <a:xfrm>
              <a:off x="0" y="264190"/>
              <a:ext cx="8845075" cy="0"/>
            </a:xfrm>
            <a:prstGeom prst="straightConnector1">
              <a:avLst/>
            </a:prstGeom>
            <a:noFill/>
            <a:ln cap="flat" cmpd="sng" w="127000">
              <a:solidFill>
                <a:srgbClr val="FF5C1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18" name="Google Shape;218;p6"/>
          <p:cNvSpPr/>
          <p:nvPr/>
        </p:nvSpPr>
        <p:spPr>
          <a:xfrm>
            <a:off x="9443814" y="71389"/>
            <a:ext cx="2442694" cy="1795778"/>
          </a:xfrm>
          <a:custGeom>
            <a:rect b="b" l="l" r="r" t="t"/>
            <a:pathLst>
              <a:path extrusionOk="0" h="1795778" w="2442694">
                <a:moveTo>
                  <a:pt x="0" y="0"/>
                </a:moveTo>
                <a:lnTo>
                  <a:pt x="2442694" y="0"/>
                </a:lnTo>
                <a:lnTo>
                  <a:pt x="2442694" y="1795778"/>
                </a:lnTo>
                <a:lnTo>
                  <a:pt x="0" y="17957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4341" l="0" r="0" t="-21680"/>
            </a:stretch>
          </a:blipFill>
          <a:ln>
            <a:noFill/>
          </a:ln>
        </p:spPr>
        <p:txBody>
          <a:bodyPr/>
          <a:p/>
        </p:txBody>
      </p:sp>
      <p:pic>
        <p:nvPicPr>
          <p:cNvPr id="219" name="Google Shape;219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57738" y="83378"/>
            <a:ext cx="1393754" cy="1672504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TextBox 219"/>
          <p:cNvSpPr txBox="1"/>
          <p:nvPr/>
        </p:nvSpPr>
        <p:spPr>
          <a:xfrm>
            <a:off x="832104" y="3291840"/>
            <a:ext cx="8778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555555"/>
                </a:solidFill>
                <a:latin typeface="Calibri"/>
              </a:rPr>
              <a:t>FIVE PLACES WHERE AI DOES REAL WORK</a:t>
            </a:r>
          </a:p>
        </p:txBody>
      </p:sp>
      <p:sp>
        <p:nvSpPr>
          <p:cNvPr id="221" name="Rounded Rectangle 220"/>
          <p:cNvSpPr/>
          <p:nvPr/>
        </p:nvSpPr>
        <p:spPr>
          <a:xfrm>
            <a:off x="832104" y="3794760"/>
            <a:ext cx="8778240" cy="9784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1060704" y="4014216"/>
            <a:ext cx="548640" cy="548640"/>
          </a:xfrm>
          <a:prstGeom prst="ellipse">
            <a:avLst/>
          </a:prstGeom>
          <a:solidFill>
            <a:srgbClr val="FF5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1837944" y="3867912"/>
            <a:ext cx="7589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1" i="0">
                <a:solidFill>
                  <a:srgbClr val="222222"/>
                </a:solidFill>
                <a:latin typeface="Calibri"/>
              </a:rPr>
              <a:t>Detection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1837944" y="4297680"/>
            <a:ext cx="7589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 i="0">
                <a:solidFill>
                  <a:srgbClr val="555555"/>
                </a:solidFill>
                <a:latin typeface="Calibri"/>
              </a:rPr>
              <a:t>Identifies the civic problem from image, text and location</a:t>
            </a:r>
          </a:p>
        </p:txBody>
      </p:sp>
      <p:sp>
        <p:nvSpPr>
          <p:cNvPr id="225" name="Rounded Rectangle 224"/>
          <p:cNvSpPr/>
          <p:nvPr/>
        </p:nvSpPr>
        <p:spPr>
          <a:xfrm>
            <a:off x="832104" y="4910328"/>
            <a:ext cx="8778240" cy="9784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1060704" y="5129784"/>
            <a:ext cx="548640" cy="548640"/>
          </a:xfrm>
          <a:prstGeom prst="ellipse">
            <a:avLst/>
          </a:prstGeom>
          <a:solidFill>
            <a:srgbClr val="FF5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1837944" y="4983480"/>
            <a:ext cx="7589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1" i="0">
                <a:solidFill>
                  <a:srgbClr val="222222"/>
                </a:solidFill>
                <a:latin typeface="Calibri"/>
              </a:rPr>
              <a:t>Severity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1837944" y="5413248"/>
            <a:ext cx="7589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 i="0">
                <a:solidFill>
                  <a:srgbClr val="555555"/>
                </a:solidFill>
                <a:latin typeface="Calibri"/>
              </a:rPr>
              <a:t>Estimates severity and visible safety risk</a:t>
            </a:r>
          </a:p>
        </p:txBody>
      </p:sp>
      <p:sp>
        <p:nvSpPr>
          <p:cNvPr id="229" name="Rounded Rectangle 228"/>
          <p:cNvSpPr/>
          <p:nvPr/>
        </p:nvSpPr>
        <p:spPr>
          <a:xfrm>
            <a:off x="832104" y="6025896"/>
            <a:ext cx="8778240" cy="9784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1060704" y="6245352"/>
            <a:ext cx="548640" cy="548640"/>
          </a:xfrm>
          <a:prstGeom prst="ellipse">
            <a:avLst/>
          </a:prstGeom>
          <a:solidFill>
            <a:srgbClr val="FF5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1837944" y="6099048"/>
            <a:ext cx="7589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1" i="0">
                <a:solidFill>
                  <a:srgbClr val="222222"/>
                </a:solidFill>
                <a:latin typeface="Calibri"/>
              </a:rPr>
              <a:t>Priority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837944" y="6528816"/>
            <a:ext cx="7589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 i="0">
                <a:solidFill>
                  <a:srgbClr val="555555"/>
                </a:solidFill>
                <a:latin typeface="Calibri"/>
              </a:rPr>
              <a:t>Calculates an explainable P1–P4 score</a:t>
            </a:r>
          </a:p>
        </p:txBody>
      </p:sp>
      <p:sp>
        <p:nvSpPr>
          <p:cNvPr id="233" name="Rounded Rectangle 232"/>
          <p:cNvSpPr/>
          <p:nvPr/>
        </p:nvSpPr>
        <p:spPr>
          <a:xfrm>
            <a:off x="832104" y="7141464"/>
            <a:ext cx="8778240" cy="9784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1060704" y="7360920"/>
            <a:ext cx="548640" cy="548640"/>
          </a:xfrm>
          <a:prstGeom prst="ellipse">
            <a:avLst/>
          </a:prstGeom>
          <a:solidFill>
            <a:srgbClr val="157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837944" y="7214616"/>
            <a:ext cx="7589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1" i="0">
                <a:solidFill>
                  <a:srgbClr val="222222"/>
                </a:solidFill>
                <a:latin typeface="Calibri"/>
              </a:rPr>
              <a:t>Prediction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1837944" y="7644384"/>
            <a:ext cx="7589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 i="0">
                <a:solidFill>
                  <a:srgbClr val="555555"/>
                </a:solidFill>
                <a:latin typeface="Calibri"/>
              </a:rPr>
              <a:t>Forecasts hotspots before complaints pile up</a:t>
            </a:r>
          </a:p>
        </p:txBody>
      </p:sp>
      <p:sp>
        <p:nvSpPr>
          <p:cNvPr id="237" name="Rounded Rectangle 236"/>
          <p:cNvSpPr/>
          <p:nvPr/>
        </p:nvSpPr>
        <p:spPr>
          <a:xfrm>
            <a:off x="832104" y="8257032"/>
            <a:ext cx="8778240" cy="9784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1060704" y="8476488"/>
            <a:ext cx="548640" cy="548640"/>
          </a:xfrm>
          <a:prstGeom prst="ellipse">
            <a:avLst/>
          </a:prstGeom>
          <a:solidFill>
            <a:srgbClr val="157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1837944" y="8330184"/>
            <a:ext cx="7589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1" i="0">
                <a:solidFill>
                  <a:srgbClr val="222222"/>
                </a:solidFill>
                <a:latin typeface="Calibri"/>
              </a:rPr>
              <a:t>Verification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1837944" y="8759952"/>
            <a:ext cx="7589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 i="0">
                <a:solidFill>
                  <a:srgbClr val="555555"/>
                </a:solidFill>
                <a:latin typeface="Calibri"/>
              </a:rPr>
              <a:t>Checks whether the fix is visible in the after photo</a:t>
            </a:r>
          </a:p>
        </p:txBody>
      </p:sp>
      <p:sp>
        <p:nvSpPr>
          <p:cNvPr id="241" name="Rounded Rectangle 240"/>
          <p:cNvSpPr/>
          <p:nvPr/>
        </p:nvSpPr>
        <p:spPr>
          <a:xfrm>
            <a:off x="9976104" y="3291840"/>
            <a:ext cx="7498079" cy="4160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TextBox 241"/>
          <p:cNvSpPr txBox="1"/>
          <p:nvPr/>
        </p:nvSpPr>
        <p:spPr>
          <a:xfrm>
            <a:off x="10296144" y="3474720"/>
            <a:ext cx="685799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1" i="0">
                <a:solidFill>
                  <a:srgbClr val="222222"/>
                </a:solidFill>
                <a:latin typeface="Calibri"/>
              </a:rPr>
              <a:t>Explainable priority score (0–100)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10296144" y="4023360"/>
            <a:ext cx="6857999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256032" indent="-256032">
              <a:spcAft>
                <a:spcPts val="300"/>
              </a:spcAft>
              <a:buClr>
                <a:srgbClr val="FF5C1F"/>
              </a:buClr>
              <a:buChar char="•"/>
            </a:pPr>
            <a:r>
              <a:rPr sz="2100" b="0" i="0">
                <a:solidFill>
                  <a:srgbClr val="222222"/>
                </a:solidFill>
                <a:latin typeface="Calibri"/>
              </a:rPr>
              <a:t>Severity × 30</a:t>
            </a:r>
          </a:p>
          <a:p>
            <a:pPr algn="l" marL="256032" indent="-256032">
              <a:spcAft>
                <a:spcPts val="300"/>
              </a:spcAft>
              <a:buClr>
                <a:srgbClr val="FF5C1F"/>
              </a:buClr>
              <a:buChar char="•"/>
            </a:pPr>
            <a:r>
              <a:rPr sz="2100" b="0" i="0">
                <a:solidFill>
                  <a:srgbClr val="222222"/>
                </a:solidFill>
                <a:latin typeface="Calibri"/>
              </a:rPr>
              <a:t>Safety risk × 30</a:t>
            </a:r>
          </a:p>
          <a:p>
            <a:pPr algn="l" marL="256032" indent="-256032">
              <a:spcAft>
                <a:spcPts val="300"/>
              </a:spcAft>
              <a:buClr>
                <a:srgbClr val="FF5C1F"/>
              </a:buClr>
              <a:buChar char="•"/>
            </a:pPr>
            <a:r>
              <a:rPr sz="2100" b="0" i="0">
                <a:solidFill>
                  <a:srgbClr val="222222"/>
                </a:solidFill>
                <a:latin typeface="Calibri"/>
              </a:rPr>
              <a:t>Report density × 15  ·  Location impact × 15</a:t>
            </a:r>
          </a:p>
          <a:p>
            <a:pPr algn="l" marL="256032" indent="-256032">
              <a:buClr>
                <a:srgbClr val="FF5C1F"/>
              </a:buClr>
              <a:buChar char="•"/>
            </a:pPr>
            <a:r>
              <a:rPr sz="2100" b="0" i="0">
                <a:solidFill>
                  <a:srgbClr val="222222"/>
                </a:solidFill>
                <a:latin typeface="Calibri"/>
              </a:rPr>
              <a:t>Complaint age × 10</a:t>
            </a:r>
          </a:p>
        </p:txBody>
      </p:sp>
      <p:sp>
        <p:nvSpPr>
          <p:cNvPr id="244" name="Rounded Rectangle 243"/>
          <p:cNvSpPr/>
          <p:nvPr/>
        </p:nvSpPr>
        <p:spPr>
          <a:xfrm>
            <a:off x="10296144" y="5852160"/>
            <a:ext cx="1611629" cy="1280160"/>
          </a:xfrm>
          <a:prstGeom prst="roundRect">
            <a:avLst>
              <a:gd name="adj" fmla="val 10000"/>
            </a:avLst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P1</a:t>
            </a:r>
          </a:p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Critical 80–100</a:t>
            </a:r>
          </a:p>
        </p:txBody>
      </p:sp>
      <p:sp>
        <p:nvSpPr>
          <p:cNvPr id="245" name="Rounded Rectangle 244"/>
          <p:cNvSpPr/>
          <p:nvPr/>
        </p:nvSpPr>
        <p:spPr>
          <a:xfrm>
            <a:off x="12044934" y="5852160"/>
            <a:ext cx="1611629" cy="1280160"/>
          </a:xfrm>
          <a:prstGeom prst="roundRect">
            <a:avLst>
              <a:gd name="adj" fmla="val 10000"/>
            </a:avLst>
          </a:prstGeom>
          <a:solidFill>
            <a:srgbClr val="FF5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P2</a:t>
            </a:r>
          </a:p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High 60–79</a:t>
            </a:r>
          </a:p>
        </p:txBody>
      </p:sp>
      <p:sp>
        <p:nvSpPr>
          <p:cNvPr id="246" name="Rounded Rectangle 245"/>
          <p:cNvSpPr/>
          <p:nvPr/>
        </p:nvSpPr>
        <p:spPr>
          <a:xfrm>
            <a:off x="13793724" y="5852160"/>
            <a:ext cx="1611629" cy="1280160"/>
          </a:xfrm>
          <a:prstGeom prst="roundRect">
            <a:avLst>
              <a:gd name="adj" fmla="val 10000"/>
            </a:avLst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P3</a:t>
            </a:r>
          </a:p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Medium 40–59</a:t>
            </a:r>
          </a:p>
        </p:txBody>
      </p:sp>
      <p:sp>
        <p:nvSpPr>
          <p:cNvPr id="247" name="Rounded Rectangle 246"/>
          <p:cNvSpPr/>
          <p:nvPr/>
        </p:nvSpPr>
        <p:spPr>
          <a:xfrm>
            <a:off x="15542513" y="5852160"/>
            <a:ext cx="1611629" cy="1280160"/>
          </a:xfrm>
          <a:prstGeom prst="roundRect">
            <a:avLst>
              <a:gd name="adj" fmla="val 10000"/>
            </a:avLst>
          </a:prstGeom>
          <a:solidFill>
            <a:srgbClr val="157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P4</a:t>
            </a:r>
          </a:p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Low 0–39</a:t>
            </a:r>
          </a:p>
        </p:txBody>
      </p:sp>
      <p:sp>
        <p:nvSpPr>
          <p:cNvPr id="248" name="Rounded Rectangle 247"/>
          <p:cNvSpPr/>
          <p:nvPr/>
        </p:nvSpPr>
        <p:spPr>
          <a:xfrm>
            <a:off x="9976104" y="7680960"/>
            <a:ext cx="7498079" cy="1645920"/>
          </a:xfrm>
          <a:prstGeom prst="roundRect">
            <a:avLst>
              <a:gd name="adj" fmla="val 5000"/>
            </a:avLst>
          </a:prstGeom>
          <a:solidFill>
            <a:srgbClr val="E6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TextBox 248"/>
          <p:cNvSpPr txBox="1"/>
          <p:nvPr/>
        </p:nvSpPr>
        <p:spPr>
          <a:xfrm>
            <a:off x="10296144" y="7818120"/>
            <a:ext cx="685799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1" i="0">
                <a:solidFill>
                  <a:srgbClr val="15762B"/>
                </a:solidFill>
                <a:latin typeface="Calibri"/>
              </a:rPr>
              <a:t>Honest by design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10296144" y="8275320"/>
            <a:ext cx="6857999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256032" indent="-256032">
              <a:spcAft>
                <a:spcPts val="200"/>
              </a:spcAft>
              <a:buClr>
                <a:srgbClr val="15762B"/>
              </a:buClr>
              <a:buChar char="•"/>
            </a:pPr>
            <a:r>
              <a:rPr sz="1900" b="0" i="0">
                <a:solidFill>
                  <a:srgbClr val="222222"/>
                </a:solidFill>
                <a:latin typeface="Calibri"/>
              </a:rPr>
              <a:t>Simulated data is always labeled</a:t>
            </a:r>
          </a:p>
          <a:p>
            <a:pPr algn="l" marL="256032" indent="-256032">
              <a:spcAft>
                <a:spcPts val="200"/>
              </a:spcAft>
              <a:buClr>
                <a:srgbClr val="15762B"/>
              </a:buClr>
              <a:buChar char="•"/>
            </a:pPr>
            <a:r>
              <a:rPr sz="1900" b="0" i="0">
                <a:solidFill>
                  <a:srgbClr val="222222"/>
                </a:solidFill>
                <a:latin typeface="Calibri"/>
              </a:rPr>
              <a:t>“Likely resolved” or “Needs review” — never certainty</a:t>
            </a:r>
          </a:p>
          <a:p>
            <a:pPr algn="l" marL="256032" indent="-256032">
              <a:buClr>
                <a:srgbClr val="15762B"/>
              </a:buClr>
              <a:buChar char="•"/>
            </a:pPr>
            <a:r>
              <a:rPr sz="1900" b="0" i="0">
                <a:solidFill>
                  <a:srgbClr val="222222"/>
                </a:solidFill>
                <a:latin typeface="Calibri"/>
              </a:rPr>
              <a:t>Full demo works without paid APIs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7"/>
          <p:cNvSpPr/>
          <p:nvPr/>
        </p:nvSpPr>
        <p:spPr>
          <a:xfrm>
            <a:off x="4089950" y="0"/>
            <a:ext cx="10287000" cy="10594576"/>
          </a:xfrm>
          <a:custGeom>
            <a:rect b="b" l="l" r="r" t="t"/>
            <a:pathLst>
              <a:path extrusionOk="0" h="10594576" w="10287000">
                <a:moveTo>
                  <a:pt x="0" y="0"/>
                </a:moveTo>
                <a:lnTo>
                  <a:pt x="10287000" y="0"/>
                </a:lnTo>
                <a:lnTo>
                  <a:pt x="10287000" y="10594576"/>
                </a:lnTo>
                <a:lnTo>
                  <a:pt x="0" y="105945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494" r="-1494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225" name="Google Shape;225;p7"/>
          <p:cNvSpPr txBox="1"/>
          <p:nvPr/>
        </p:nvSpPr>
        <p:spPr>
          <a:xfrm>
            <a:off x="834817" y="1703982"/>
            <a:ext cx="12481840" cy="971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FEASIBILITY &amp; COMPETITORS</a:t>
            </a:r>
            <a:endParaRPr/>
          </a:p>
        </p:txBody>
      </p:sp>
      <p:cxnSp>
        <p:nvCxnSpPr>
          <p:cNvPr id="226" name="Google Shape;226;p7"/>
          <p:cNvCxnSpPr/>
          <p:nvPr/>
        </p:nvCxnSpPr>
        <p:spPr>
          <a:xfrm>
            <a:off x="542379" y="1713507"/>
            <a:ext cx="0" cy="991268"/>
          </a:xfrm>
          <a:prstGeom prst="straightConnector1">
            <a:avLst/>
          </a:prstGeom>
          <a:noFill/>
          <a:ln cap="flat" cmpd="sng" w="190500">
            <a:solidFill>
              <a:srgbClr val="FF5C1F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27" name="Google Shape;227;p7"/>
          <p:cNvGrpSpPr/>
          <p:nvPr/>
        </p:nvGrpSpPr>
        <p:grpSpPr>
          <a:xfrm>
            <a:off x="13316657" y="2063156"/>
            <a:ext cx="4602553" cy="262728"/>
            <a:chOff x="0" y="0"/>
            <a:chExt cx="6136737" cy="350304"/>
          </a:xfrm>
        </p:grpSpPr>
        <p:cxnSp>
          <p:nvCxnSpPr>
            <p:cNvPr id="228" name="Google Shape;228;p7"/>
            <p:cNvCxnSpPr/>
            <p:nvPr/>
          </p:nvCxnSpPr>
          <p:spPr>
            <a:xfrm>
              <a:off x="0" y="175152"/>
              <a:ext cx="6032285" cy="0"/>
            </a:xfrm>
            <a:prstGeom prst="straightConnector1">
              <a:avLst/>
            </a:prstGeom>
            <a:noFill/>
            <a:ln cap="rnd" cmpd="sng" w="114300">
              <a:solidFill>
                <a:srgbClr val="FF5C1F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229" name="Google Shape;229;p7"/>
            <p:cNvGrpSpPr/>
            <p:nvPr/>
          </p:nvGrpSpPr>
          <p:grpSpPr>
            <a:xfrm>
              <a:off x="5786433" y="0"/>
              <a:ext cx="350304" cy="350304"/>
              <a:chOff x="0" y="0"/>
              <a:chExt cx="812800" cy="812800"/>
            </a:xfrm>
          </p:grpSpPr>
          <p:sp>
            <p:nvSpPr>
              <p:cNvPr id="230" name="Google Shape;230;p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5C1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7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22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32" name="Google Shape;232;p7"/>
          <p:cNvGrpSpPr/>
          <p:nvPr/>
        </p:nvGrpSpPr>
        <p:grpSpPr>
          <a:xfrm>
            <a:off x="557530" y="9566731"/>
            <a:ext cx="17098952" cy="540946"/>
            <a:chOff x="0" y="-192882"/>
            <a:chExt cx="22798602" cy="721262"/>
          </a:xfrm>
        </p:grpSpPr>
        <p:cxnSp>
          <p:nvCxnSpPr>
            <p:cNvPr id="233" name="Google Shape;233;p7"/>
            <p:cNvCxnSpPr/>
            <p:nvPr/>
          </p:nvCxnSpPr>
          <p:spPr>
            <a:xfrm>
              <a:off x="13731267" y="264190"/>
              <a:ext cx="9067335" cy="0"/>
            </a:xfrm>
            <a:prstGeom prst="straightConnector1">
              <a:avLst/>
            </a:prstGeom>
            <a:noFill/>
            <a:ln cap="flat" cmpd="sng" w="127000">
              <a:solidFill>
                <a:srgbClr val="15762B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234" name="Google Shape;234;p7"/>
            <p:cNvGrpSpPr/>
            <p:nvPr/>
          </p:nvGrpSpPr>
          <p:grpSpPr>
            <a:xfrm>
              <a:off x="8845075" y="-192882"/>
              <a:ext cx="4862999" cy="721262"/>
              <a:chOff x="0" y="-38100"/>
              <a:chExt cx="960592" cy="142471"/>
            </a:xfrm>
          </p:grpSpPr>
          <p:sp>
            <p:nvSpPr>
              <p:cNvPr id="235" name="Google Shape;235;p7"/>
              <p:cNvSpPr/>
              <p:nvPr/>
            </p:nvSpPr>
            <p:spPr>
              <a:xfrm>
                <a:off x="0" y="0"/>
                <a:ext cx="960592" cy="104371"/>
              </a:xfrm>
              <a:custGeom>
                <a:rect b="b" l="l" r="r" t="t"/>
                <a:pathLst>
                  <a:path extrusionOk="0" h="104371" w="960592">
                    <a:moveTo>
                      <a:pt x="0" y="0"/>
                    </a:moveTo>
                    <a:lnTo>
                      <a:pt x="960592" y="0"/>
                    </a:lnTo>
                    <a:lnTo>
                      <a:pt x="960592" y="104371"/>
                    </a:lnTo>
                    <a:lnTo>
                      <a:pt x="0" y="10437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36" name="Google Shape;236;p7"/>
              <p:cNvSpPr txBox="1"/>
              <p:nvPr/>
            </p:nvSpPr>
            <p:spPr>
              <a:xfrm>
                <a:off x="0" y="-38100"/>
                <a:ext cx="960592" cy="1424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22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37" name="Google Shape;237;p7"/>
            <p:cNvSpPr txBox="1"/>
            <p:nvPr/>
          </p:nvSpPr>
          <p:spPr>
            <a:xfrm>
              <a:off x="8999457" y="35636"/>
              <a:ext cx="4708617" cy="4255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77" u="none" cap="none" strike="noStrike">
                  <a:solidFill>
                    <a:srgbClr val="000000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BUILD WITH </a:t>
              </a:r>
              <a:r>
                <a:rPr b="1" i="0" lang="en-US" sz="1877" u="none" cap="none" strike="noStrike">
                  <a:solidFill>
                    <a:srgbClr val="FF5C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भारत4.0</a:t>
              </a:r>
              <a:endParaRPr/>
            </a:p>
          </p:txBody>
        </p:sp>
        <p:cxnSp>
          <p:nvCxnSpPr>
            <p:cNvPr id="238" name="Google Shape;238;p7"/>
            <p:cNvCxnSpPr/>
            <p:nvPr/>
          </p:nvCxnSpPr>
          <p:spPr>
            <a:xfrm>
              <a:off x="0" y="264190"/>
              <a:ext cx="8845075" cy="0"/>
            </a:xfrm>
            <a:prstGeom prst="straightConnector1">
              <a:avLst/>
            </a:prstGeom>
            <a:noFill/>
            <a:ln cap="flat" cmpd="sng" w="127000">
              <a:solidFill>
                <a:srgbClr val="FF5C1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39" name="Google Shape;239;p7"/>
          <p:cNvSpPr/>
          <p:nvPr/>
        </p:nvSpPr>
        <p:spPr>
          <a:xfrm>
            <a:off x="9443814" y="71389"/>
            <a:ext cx="2442694" cy="1795778"/>
          </a:xfrm>
          <a:custGeom>
            <a:rect b="b" l="l" r="r" t="t"/>
            <a:pathLst>
              <a:path extrusionOk="0" h="1795778" w="2442694">
                <a:moveTo>
                  <a:pt x="0" y="0"/>
                </a:moveTo>
                <a:lnTo>
                  <a:pt x="2442694" y="0"/>
                </a:lnTo>
                <a:lnTo>
                  <a:pt x="2442694" y="1795778"/>
                </a:lnTo>
                <a:lnTo>
                  <a:pt x="0" y="17957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4341" l="0" r="0" t="-21680"/>
            </a:stretch>
          </a:blipFill>
          <a:ln>
            <a:noFill/>
          </a:ln>
        </p:spPr>
        <p:txBody>
          <a:bodyPr/>
          <a:p/>
        </p:txBody>
      </p:sp>
      <p:pic>
        <p:nvPicPr>
          <p:cNvPr id="240" name="Google Shape;240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57738" y="83378"/>
            <a:ext cx="1393754" cy="1672504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Rounded Rectangle 240"/>
          <p:cNvSpPr/>
          <p:nvPr/>
        </p:nvSpPr>
        <p:spPr>
          <a:xfrm>
            <a:off x="832104" y="3291840"/>
            <a:ext cx="7680960" cy="2606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TextBox 241"/>
          <p:cNvSpPr txBox="1"/>
          <p:nvPr/>
        </p:nvSpPr>
        <p:spPr>
          <a:xfrm>
            <a:off x="1106424" y="3429000"/>
            <a:ext cx="7132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1" i="0">
                <a:solidFill>
                  <a:srgbClr val="15762B"/>
                </a:solidFill>
                <a:latin typeface="Calibri"/>
              </a:rPr>
              <a:t>Feasibility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1106424" y="3977639"/>
            <a:ext cx="722376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256032" indent="-256032">
              <a:spcAft>
                <a:spcPts val="600"/>
              </a:spcAft>
              <a:buClr>
                <a:srgbClr val="15762B"/>
              </a:buClr>
              <a:buChar char="•"/>
            </a:pPr>
            <a:r>
              <a:rPr sz="2000" b="0" i="0">
                <a:solidFill>
                  <a:srgbClr val="222222"/>
                </a:solidFill>
                <a:latin typeface="Calibri"/>
              </a:rPr>
              <a:t>Proven open stack: React, Node.js, MongoDB</a:t>
            </a:r>
          </a:p>
          <a:p>
            <a:pPr algn="l" marL="256032" indent="-256032">
              <a:spcAft>
                <a:spcPts val="600"/>
              </a:spcAft>
              <a:buClr>
                <a:srgbClr val="15762B"/>
              </a:buClr>
              <a:buChar char="•"/>
            </a:pPr>
            <a:r>
              <a:rPr sz="2000" b="0" i="0">
                <a:solidFill>
                  <a:srgbClr val="222222"/>
                </a:solidFill>
                <a:latin typeface="Calibri"/>
              </a:rPr>
              <a:t>Full demo works without any paid API</a:t>
            </a:r>
          </a:p>
          <a:p>
            <a:pPr algn="l" marL="256032" indent="-256032">
              <a:spcAft>
                <a:spcPts val="600"/>
              </a:spcAft>
              <a:buClr>
                <a:srgbClr val="15762B"/>
              </a:buClr>
              <a:buChar char="•"/>
            </a:pPr>
            <a:r>
              <a:rPr sz="2000" b="0" i="0">
                <a:solidFill>
                  <a:srgbClr val="222222"/>
                </a:solidFill>
                <a:latin typeface="Calibri"/>
              </a:rPr>
              <a:t>AI provider swappable via env variable</a:t>
            </a:r>
          </a:p>
          <a:p>
            <a:pPr algn="l" marL="256032" indent="-256032">
              <a:spcAft>
                <a:spcPts val="600"/>
              </a:spcAft>
              <a:buClr>
                <a:srgbClr val="15762B"/>
              </a:buClr>
              <a:buChar char="•"/>
            </a:pPr>
            <a:r>
              <a:rPr sz="2000" b="0" i="0">
                <a:solidFill>
                  <a:srgbClr val="222222"/>
                </a:solidFill>
                <a:latin typeface="Calibri"/>
              </a:rPr>
              <a:t>Seeded demo: 25+ complaints, 3–5 hotspots</a:t>
            </a:r>
          </a:p>
        </p:txBody>
      </p:sp>
      <p:sp>
        <p:nvSpPr>
          <p:cNvPr id="244" name="Rounded Rectangle 243"/>
          <p:cNvSpPr/>
          <p:nvPr/>
        </p:nvSpPr>
        <p:spPr>
          <a:xfrm>
            <a:off x="832104" y="6080760"/>
            <a:ext cx="7680960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TextBox 244"/>
          <p:cNvSpPr txBox="1"/>
          <p:nvPr/>
        </p:nvSpPr>
        <p:spPr>
          <a:xfrm>
            <a:off x="1106424" y="6217920"/>
            <a:ext cx="7132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1" i="0">
                <a:solidFill>
                  <a:srgbClr val="FF5C1F"/>
                </a:solidFill>
                <a:latin typeface="Calibri"/>
              </a:rPr>
              <a:t>Challenges and mitigation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1106424" y="6766560"/>
            <a:ext cx="7223760" cy="2560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256032" indent="-256032">
              <a:spcAft>
                <a:spcPts val="700"/>
              </a:spcAft>
              <a:buClr>
                <a:srgbClr val="FF5C1F"/>
              </a:buClr>
              <a:buChar char="•"/>
            </a:pPr>
            <a:r>
              <a:rPr sz="1700" b="1" i="0">
                <a:solidFill>
                  <a:srgbClr val="222222"/>
                </a:solidFill>
                <a:latin typeface="Calibri"/>
              </a:rPr>
              <a:t>AI misclassification: </a:t>
            </a:r>
            <a:r>
              <a:rPr sz="1700" b="0" i="0">
                <a:solidFill>
                  <a:srgbClr val="555555"/>
                </a:solidFill>
                <a:latin typeface="Calibri"/>
              </a:rPr>
              <a:t>confidence score, Needs Review state, officer override</a:t>
            </a:r>
          </a:p>
          <a:p>
            <a:pPr algn="l" marL="256032" indent="-256032">
              <a:spcAft>
                <a:spcPts val="700"/>
              </a:spcAft>
              <a:buClr>
                <a:srgbClr val="FF5C1F"/>
              </a:buClr>
              <a:buChar char="•"/>
            </a:pPr>
            <a:r>
              <a:rPr sz="1700" b="1" i="0">
                <a:solidFill>
                  <a:srgbClr val="222222"/>
                </a:solidFill>
                <a:latin typeface="Calibri"/>
              </a:rPr>
              <a:t>AI or API outage: </a:t>
            </a:r>
            <a:r>
              <a:rPr sz="1700" b="0" i="0">
                <a:solidFill>
                  <a:srgbClr val="555555"/>
                </a:solidFill>
                <a:latin typeface="Calibri"/>
              </a:rPr>
              <a:t>automatic fallback to the demo provider</a:t>
            </a:r>
          </a:p>
          <a:p>
            <a:pPr algn="l" marL="256032" indent="-256032">
              <a:spcAft>
                <a:spcPts val="700"/>
              </a:spcAft>
              <a:buClr>
                <a:srgbClr val="FF5C1F"/>
              </a:buClr>
              <a:buChar char="•"/>
            </a:pPr>
            <a:r>
              <a:rPr sz="1700" b="1" i="0">
                <a:solidFill>
                  <a:srgbClr val="222222"/>
                </a:solidFill>
                <a:latin typeface="Calibri"/>
              </a:rPr>
              <a:t>Sparse data for prediction: </a:t>
            </a:r>
            <a:r>
              <a:rPr sz="1700" b="0" i="0">
                <a:solidFill>
                  <a:srgbClr val="555555"/>
                </a:solidFill>
                <a:latin typeface="Calibri"/>
              </a:rPr>
              <a:t>clearly labeled simulated data, improves with real reports</a:t>
            </a:r>
          </a:p>
          <a:p>
            <a:pPr algn="l" marL="256032" indent="-256032">
              <a:spcAft>
                <a:spcPts val="700"/>
              </a:spcAft>
              <a:buClr>
                <a:srgbClr val="FF5C1F"/>
              </a:buClr>
              <a:buChar char="•"/>
            </a:pPr>
            <a:r>
              <a:rPr sz="1700" b="1" i="0">
                <a:solidFill>
                  <a:srgbClr val="222222"/>
                </a:solidFill>
                <a:latin typeface="Calibri"/>
              </a:rPr>
              <a:t>Over-trusting verification: </a:t>
            </a:r>
            <a:r>
              <a:rPr sz="1700" b="0" i="0">
                <a:solidFill>
                  <a:srgbClr val="555555"/>
                </a:solidFill>
                <a:latin typeface="Calibri"/>
              </a:rPr>
              <a:t>cautious wording plus manual confirmation</a:t>
            </a:r>
          </a:p>
        </p:txBody>
      </p:sp>
      <p:graphicFrame>
        <p:nvGraphicFramePr>
          <p:cNvPr id="247" name="Table 246"/>
          <p:cNvGraphicFramePr>
            <a:graphicFrameLocks noGrp="1"/>
          </p:cNvGraphicFramePr>
          <p:nvPr/>
        </p:nvGraphicFramePr>
        <p:xfrm>
          <a:off x="8878824" y="3291840"/>
          <a:ext cx="8595358" cy="521208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492654"/>
                <a:gridCol w="3008375"/>
                <a:gridCol w="3094329"/>
              </a:tblGrid>
              <a:tr h="868680">
                <a:tc>
                  <a:txBody>
                    <a:bodyPr wrap="square" lIns="137160" tIns="36576" bIns="36576" anchor="ctr"/>
                    <a:lstStyle/>
                    <a:p>
                      <a:pPr algn="l"/>
                      <a:r>
                        <a:rPr sz="1900" b="1" i="0">
                          <a:solidFill>
                            <a:srgbClr val="FFFFFF"/>
                          </a:solidFill>
                          <a:latin typeface="Calibri"/>
                        </a:rPr>
                        <a:t>Capability</a:t>
                      </a:r>
                    </a:p>
                  </a:txBody>
                  <a:tcPr anchor="ctr" marL="137160" marR="91440">
                    <a:solidFill>
                      <a:srgbClr val="222222"/>
                    </a:solidFill>
                  </a:tcPr>
                </a:tc>
                <a:tc>
                  <a:txBody>
                    <a:bodyPr wrap="square" lIns="137160" tIns="36576" bIns="36576" anchor="ctr"/>
                    <a:lstStyle/>
                    <a:p>
                      <a:pPr algn="l"/>
                      <a:r>
                        <a:rPr sz="1900" b="1" i="0">
                          <a:solidFill>
                            <a:srgbClr val="FFFFFF"/>
                          </a:solidFill>
                          <a:latin typeface="Calibri"/>
                        </a:rPr>
                        <a:t>Typical complaint portals</a:t>
                      </a:r>
                    </a:p>
                  </a:txBody>
                  <a:tcPr anchor="ctr" marL="137160" marR="91440">
                    <a:solidFill>
                      <a:srgbClr val="222222"/>
                    </a:solidFill>
                  </a:tcPr>
                </a:tc>
                <a:tc>
                  <a:txBody>
                    <a:bodyPr wrap="square" lIns="137160" tIns="36576" bIns="36576" anchor="ctr"/>
                    <a:lstStyle/>
                    <a:p>
                      <a:pPr algn="l"/>
                      <a:r>
                        <a:rPr sz="1900" b="1" i="0">
                          <a:solidFill>
                            <a:srgbClr val="FFFFFF"/>
                          </a:solidFill>
                          <a:latin typeface="Calibri"/>
                        </a:rPr>
                        <a:t>BharatFlow AI</a:t>
                      </a:r>
                    </a:p>
                  </a:txBody>
                  <a:tcPr anchor="ctr" marL="137160" marR="91440">
                    <a:solidFill>
                      <a:srgbClr val="FF5C1F"/>
                    </a:solidFill>
                  </a:tcPr>
                </a:tc>
              </a:tr>
              <a:tr h="868680">
                <a:tc>
                  <a:txBody>
                    <a:bodyPr wrap="square" lIns="137160" tIns="36576" bIns="36576" anchor="ctr"/>
                    <a:lstStyle/>
                    <a:p>
                      <a:pPr algn="l"/>
                      <a:r>
                        <a:rPr sz="1900" b="1" i="0">
                          <a:solidFill>
                            <a:srgbClr val="222222"/>
                          </a:solidFill>
                          <a:latin typeface="Calibri"/>
                        </a:rPr>
                        <a:t>Photo analysis</a:t>
                      </a:r>
                    </a:p>
                  </a:txBody>
                  <a:tcPr anchor="ctr" marL="137160" marR="91440">
                    <a:solidFill>
                      <a:srgbClr val="FFFFFF"/>
                    </a:solidFill>
                  </a:tcPr>
                </a:tc>
                <a:tc>
                  <a:txBody>
                    <a:bodyPr wrap="square" lIns="137160" tIns="36576" bIns="36576" anchor="ctr"/>
                    <a:lstStyle/>
                    <a:p>
                      <a:pPr algn="l"/>
                      <a:r>
                        <a:rPr sz="1900" b="0" i="0">
                          <a:solidFill>
                            <a:srgbClr val="555555"/>
                          </a:solidFill>
                          <a:latin typeface="Calibri"/>
                        </a:rPr>
                        <a:t>Photo attached only</a:t>
                      </a:r>
                    </a:p>
                  </a:txBody>
                  <a:tcPr anchor="ctr" marL="137160" marR="91440">
                    <a:solidFill>
                      <a:srgbClr val="FFFFFF"/>
                    </a:solidFill>
                  </a:tcPr>
                </a:tc>
                <a:tc>
                  <a:txBody>
                    <a:bodyPr wrap="square" lIns="137160" tIns="36576" bIns="36576" anchor="ctr"/>
                    <a:lstStyle/>
                    <a:p>
                      <a:pPr algn="l"/>
                      <a:r>
                        <a:rPr sz="1900" b="1" i="0">
                          <a:solidFill>
                            <a:srgbClr val="222222"/>
                          </a:solidFill>
                          <a:latin typeface="Calibri"/>
                        </a:rPr>
                        <a:t>Vision + text AI</a:t>
                      </a:r>
                    </a:p>
                  </a:txBody>
                  <a:tcPr anchor="ctr" marL="137160" marR="91440">
                    <a:solidFill>
                      <a:srgbClr val="FFF0E9"/>
                    </a:solidFill>
                  </a:tcPr>
                </a:tc>
              </a:tr>
              <a:tr h="868680">
                <a:tc>
                  <a:txBody>
                    <a:bodyPr wrap="square" lIns="137160" tIns="36576" bIns="36576" anchor="ctr"/>
                    <a:lstStyle/>
                    <a:p>
                      <a:pPr algn="l"/>
                      <a:r>
                        <a:rPr sz="1900" b="1" i="0">
                          <a:solidFill>
                            <a:srgbClr val="222222"/>
                          </a:solidFill>
                          <a:latin typeface="Calibri"/>
                        </a:rPr>
                        <a:t>Severity and priority</a:t>
                      </a:r>
                    </a:p>
                  </a:txBody>
                  <a:tcPr anchor="ctr" marL="137160" marR="91440">
                    <a:solidFill>
                      <a:srgbClr val="FFFFFF"/>
                    </a:solidFill>
                  </a:tcPr>
                </a:tc>
                <a:tc>
                  <a:txBody>
                    <a:bodyPr wrap="square" lIns="137160" tIns="36576" bIns="36576" anchor="ctr"/>
                    <a:lstStyle/>
                    <a:p>
                      <a:pPr algn="l"/>
                      <a:r>
                        <a:rPr sz="1900" b="0" i="0">
                          <a:solidFill>
                            <a:srgbClr val="555555"/>
                          </a:solidFill>
                          <a:latin typeface="Calibri"/>
                        </a:rPr>
                        <a:t>Manual triage</a:t>
                      </a:r>
                    </a:p>
                  </a:txBody>
                  <a:tcPr anchor="ctr" marL="137160" marR="91440">
                    <a:solidFill>
                      <a:srgbClr val="FFFFFF"/>
                    </a:solidFill>
                  </a:tcPr>
                </a:tc>
                <a:tc>
                  <a:txBody>
                    <a:bodyPr wrap="square" lIns="137160" tIns="36576" bIns="36576" anchor="ctr"/>
                    <a:lstStyle/>
                    <a:p>
                      <a:pPr algn="l"/>
                      <a:r>
                        <a:rPr sz="1900" b="1" i="0">
                          <a:solidFill>
                            <a:srgbClr val="222222"/>
                          </a:solidFill>
                          <a:latin typeface="Calibri"/>
                        </a:rPr>
                        <a:t>Automatic, explainable</a:t>
                      </a:r>
                    </a:p>
                  </a:txBody>
                  <a:tcPr anchor="ctr" marL="137160" marR="91440">
                    <a:solidFill>
                      <a:srgbClr val="FFF0E9"/>
                    </a:solidFill>
                  </a:tcPr>
                </a:tc>
              </a:tr>
              <a:tr h="868680">
                <a:tc>
                  <a:txBody>
                    <a:bodyPr wrap="square" lIns="137160" tIns="36576" bIns="36576" anchor="ctr"/>
                    <a:lstStyle/>
                    <a:p>
                      <a:pPr algn="l"/>
                      <a:r>
                        <a:rPr sz="1900" b="1" i="0">
                          <a:solidFill>
                            <a:srgbClr val="222222"/>
                          </a:solidFill>
                          <a:latin typeface="Calibri"/>
                        </a:rPr>
                        <a:t>Hotspot prediction</a:t>
                      </a:r>
                    </a:p>
                  </a:txBody>
                  <a:tcPr anchor="ctr" marL="137160" marR="91440">
                    <a:solidFill>
                      <a:srgbClr val="FFFFFF"/>
                    </a:solidFill>
                  </a:tcPr>
                </a:tc>
                <a:tc>
                  <a:txBody>
                    <a:bodyPr wrap="square" lIns="137160" tIns="36576" bIns="36576" anchor="ctr"/>
                    <a:lstStyle/>
                    <a:p>
                      <a:pPr algn="l"/>
                      <a:r>
                        <a:rPr sz="1900" b="0" i="0">
                          <a:solidFill>
                            <a:srgbClr val="555555"/>
                          </a:solidFill>
                          <a:latin typeface="Calibri"/>
                        </a:rPr>
                        <a:t>None — reactive</a:t>
                      </a:r>
                    </a:p>
                  </a:txBody>
                  <a:tcPr anchor="ctr" marL="137160" marR="91440">
                    <a:solidFill>
                      <a:srgbClr val="FFFFFF"/>
                    </a:solidFill>
                  </a:tcPr>
                </a:tc>
                <a:tc>
                  <a:txBody>
                    <a:bodyPr wrap="square" lIns="137160" tIns="36576" bIns="36576" anchor="ctr"/>
                    <a:lstStyle/>
                    <a:p>
                      <a:pPr algn="l"/>
                      <a:r>
                        <a:rPr sz="1900" b="1" i="0">
                          <a:solidFill>
                            <a:srgbClr val="222222"/>
                          </a:solidFill>
                          <a:latin typeface="Calibri"/>
                        </a:rPr>
                        <a:t>Civic Risk Forecast</a:t>
                      </a:r>
                    </a:p>
                  </a:txBody>
                  <a:tcPr anchor="ctr" marL="137160" marR="91440">
                    <a:solidFill>
                      <a:srgbClr val="FFF0E9"/>
                    </a:solidFill>
                  </a:tcPr>
                </a:tc>
              </a:tr>
              <a:tr h="868680">
                <a:tc>
                  <a:txBody>
                    <a:bodyPr wrap="square" lIns="137160" tIns="36576" bIns="36576" anchor="ctr"/>
                    <a:lstStyle/>
                    <a:p>
                      <a:pPr algn="l"/>
                      <a:r>
                        <a:rPr sz="1900" b="1" i="0">
                          <a:solidFill>
                            <a:srgbClr val="222222"/>
                          </a:solidFill>
                          <a:latin typeface="Calibri"/>
                        </a:rPr>
                        <a:t>Resolution check</a:t>
                      </a:r>
                    </a:p>
                  </a:txBody>
                  <a:tcPr anchor="ctr" marL="137160" marR="91440">
                    <a:solidFill>
                      <a:srgbClr val="FFFFFF"/>
                    </a:solidFill>
                  </a:tcPr>
                </a:tc>
                <a:tc>
                  <a:txBody>
                    <a:bodyPr wrap="square" lIns="137160" tIns="36576" bIns="36576" anchor="ctr"/>
                    <a:lstStyle/>
                    <a:p>
                      <a:pPr algn="l"/>
                      <a:r>
                        <a:rPr sz="1900" b="0" i="0">
                          <a:solidFill>
                            <a:srgbClr val="555555"/>
                          </a:solidFill>
                          <a:latin typeface="Calibri"/>
                        </a:rPr>
                        <a:t>Officer marks closed</a:t>
                      </a:r>
                    </a:p>
                  </a:txBody>
                  <a:tcPr anchor="ctr" marL="137160" marR="91440">
                    <a:solidFill>
                      <a:srgbClr val="FFFFFF"/>
                    </a:solidFill>
                  </a:tcPr>
                </a:tc>
                <a:tc>
                  <a:txBody>
                    <a:bodyPr wrap="square" lIns="137160" tIns="36576" bIns="36576" anchor="ctr"/>
                    <a:lstStyle/>
                    <a:p>
                      <a:pPr algn="l"/>
                      <a:r>
                        <a:rPr sz="1900" b="1" i="0">
                          <a:solidFill>
                            <a:srgbClr val="222222"/>
                          </a:solidFill>
                          <a:latin typeface="Calibri"/>
                        </a:rPr>
                        <a:t>AI before/after verification</a:t>
                      </a:r>
                    </a:p>
                  </a:txBody>
                  <a:tcPr anchor="ctr" marL="137160" marR="91440">
                    <a:solidFill>
                      <a:srgbClr val="FFF0E9"/>
                    </a:solidFill>
                  </a:tcPr>
                </a:tc>
              </a:tr>
              <a:tr h="868680">
                <a:tc>
                  <a:txBody>
                    <a:bodyPr wrap="square" lIns="137160" tIns="36576" bIns="36576" anchor="ctr"/>
                    <a:lstStyle/>
                    <a:p>
                      <a:pPr algn="l"/>
                      <a:r>
                        <a:rPr sz="1900" b="1" i="0">
                          <a:solidFill>
                            <a:srgbClr val="222222"/>
                          </a:solidFill>
                          <a:latin typeface="Calibri"/>
                        </a:rPr>
                        <a:t>Department routing</a:t>
                      </a:r>
                    </a:p>
                  </a:txBody>
                  <a:tcPr anchor="ctr" marL="137160" marR="91440">
                    <a:solidFill>
                      <a:srgbClr val="FFFFFF"/>
                    </a:solidFill>
                  </a:tcPr>
                </a:tc>
                <a:tc>
                  <a:txBody>
                    <a:bodyPr wrap="square" lIns="137160" tIns="36576" bIns="36576" anchor="ctr"/>
                    <a:lstStyle/>
                    <a:p>
                      <a:pPr algn="l"/>
                      <a:r>
                        <a:rPr sz="1900" b="0" i="0">
                          <a:solidFill>
                            <a:srgbClr val="555555"/>
                          </a:solidFill>
                          <a:latin typeface="Calibri"/>
                        </a:rPr>
                        <a:t>Citizen picks category</a:t>
                      </a:r>
                    </a:p>
                  </a:txBody>
                  <a:tcPr anchor="ctr" marL="137160" marR="91440">
                    <a:solidFill>
                      <a:srgbClr val="FFFFFF"/>
                    </a:solidFill>
                  </a:tcPr>
                </a:tc>
                <a:tc>
                  <a:txBody>
                    <a:bodyPr wrap="square" lIns="137160" tIns="36576" bIns="36576" anchor="ctr"/>
                    <a:lstStyle/>
                    <a:p>
                      <a:pPr algn="l"/>
                      <a:r>
                        <a:rPr sz="1900" b="1" i="0">
                          <a:solidFill>
                            <a:srgbClr val="222222"/>
                          </a:solidFill>
                          <a:latin typeface="Calibri"/>
                        </a:rPr>
                        <a:t>AI recommends department</a:t>
                      </a:r>
                    </a:p>
                  </a:txBody>
                  <a:tcPr anchor="ctr" marL="137160" marR="91440">
                    <a:solidFill>
                      <a:srgbClr val="FFF0E9"/>
                    </a:solidFill>
                  </a:tcPr>
                </a:tc>
              </a:tr>
            </a:tbl>
          </a:graphicData>
        </a:graphic>
      </p:graphicFrame>
      <p:sp>
        <p:nvSpPr>
          <p:cNvPr id="248" name="TextBox 247"/>
          <p:cNvSpPr txBox="1"/>
          <p:nvPr/>
        </p:nvSpPr>
        <p:spPr>
          <a:xfrm>
            <a:off x="8878824" y="8641080"/>
            <a:ext cx="8595359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1">
                <a:solidFill>
                  <a:srgbClr val="555555"/>
                </a:solidFill>
                <a:latin typeface="Calibri"/>
              </a:rPr>
              <a:t>Comparison is generalized across typical complaint portals and apps; it is not a claim about any single product.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5" name="Google Shape;245;p8"/>
          <p:cNvCxnSpPr/>
          <p:nvPr/>
        </p:nvCxnSpPr>
        <p:spPr>
          <a:xfrm>
            <a:off x="542379" y="1713507"/>
            <a:ext cx="0" cy="991268"/>
          </a:xfrm>
          <a:prstGeom prst="straightConnector1">
            <a:avLst/>
          </a:prstGeom>
          <a:noFill/>
          <a:ln cap="flat" cmpd="sng" w="190500">
            <a:solidFill>
              <a:srgbClr val="FF5C1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6" name="Google Shape;246;p8"/>
          <p:cNvSpPr/>
          <p:nvPr/>
        </p:nvSpPr>
        <p:spPr>
          <a:xfrm>
            <a:off x="4089950" y="0"/>
            <a:ext cx="10287000" cy="10594576"/>
          </a:xfrm>
          <a:custGeom>
            <a:rect b="b" l="l" r="r" t="t"/>
            <a:pathLst>
              <a:path extrusionOk="0" h="10594576" w="10287000">
                <a:moveTo>
                  <a:pt x="0" y="0"/>
                </a:moveTo>
                <a:lnTo>
                  <a:pt x="10287000" y="0"/>
                </a:lnTo>
                <a:lnTo>
                  <a:pt x="10287000" y="10594576"/>
                </a:lnTo>
                <a:lnTo>
                  <a:pt x="0" y="105945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494" r="-1494" t="0"/>
            </a:stretch>
          </a:blipFill>
          <a:ln>
            <a:noFill/>
          </a:ln>
        </p:spPr>
        <p:txBody>
          <a:bodyPr/>
          <a:p/>
        </p:txBody>
      </p:sp>
      <p:grpSp>
        <p:nvGrpSpPr>
          <p:cNvPr id="247" name="Google Shape;247;p8"/>
          <p:cNvGrpSpPr/>
          <p:nvPr/>
        </p:nvGrpSpPr>
        <p:grpSpPr>
          <a:xfrm>
            <a:off x="11807365" y="2063156"/>
            <a:ext cx="6111845" cy="262728"/>
            <a:chOff x="0" y="0"/>
            <a:chExt cx="8149126" cy="350304"/>
          </a:xfrm>
        </p:grpSpPr>
        <p:cxnSp>
          <p:nvCxnSpPr>
            <p:cNvPr id="248" name="Google Shape;248;p8"/>
            <p:cNvCxnSpPr/>
            <p:nvPr/>
          </p:nvCxnSpPr>
          <p:spPr>
            <a:xfrm>
              <a:off x="0" y="175152"/>
              <a:ext cx="8044674" cy="0"/>
            </a:xfrm>
            <a:prstGeom prst="straightConnector1">
              <a:avLst/>
            </a:prstGeom>
            <a:noFill/>
            <a:ln cap="rnd" cmpd="sng" w="114300">
              <a:solidFill>
                <a:srgbClr val="FF5C1F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249" name="Google Shape;249;p8"/>
            <p:cNvGrpSpPr/>
            <p:nvPr/>
          </p:nvGrpSpPr>
          <p:grpSpPr>
            <a:xfrm>
              <a:off x="7798822" y="0"/>
              <a:ext cx="350304" cy="350304"/>
              <a:chOff x="0" y="0"/>
              <a:chExt cx="812800" cy="812800"/>
            </a:xfrm>
          </p:grpSpPr>
          <p:sp>
            <p:nvSpPr>
              <p:cNvPr id="250" name="Google Shape;250;p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5C1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8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22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52" name="Google Shape;252;p8"/>
          <p:cNvSpPr txBox="1"/>
          <p:nvPr/>
        </p:nvSpPr>
        <p:spPr>
          <a:xfrm>
            <a:off x="834817" y="1703982"/>
            <a:ext cx="10972549" cy="971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RESEARCH &amp; REFERENCE</a:t>
            </a:r>
            <a:endParaRPr/>
          </a:p>
        </p:txBody>
      </p:sp>
      <p:grpSp>
        <p:nvGrpSpPr>
          <p:cNvPr id="253" name="Google Shape;253;p8"/>
          <p:cNvGrpSpPr/>
          <p:nvPr/>
        </p:nvGrpSpPr>
        <p:grpSpPr>
          <a:xfrm>
            <a:off x="557530" y="9566731"/>
            <a:ext cx="17098952" cy="540946"/>
            <a:chOff x="0" y="-192882"/>
            <a:chExt cx="22798602" cy="721262"/>
          </a:xfrm>
        </p:grpSpPr>
        <p:cxnSp>
          <p:nvCxnSpPr>
            <p:cNvPr id="254" name="Google Shape;254;p8"/>
            <p:cNvCxnSpPr/>
            <p:nvPr/>
          </p:nvCxnSpPr>
          <p:spPr>
            <a:xfrm>
              <a:off x="13731267" y="264190"/>
              <a:ext cx="9067335" cy="0"/>
            </a:xfrm>
            <a:prstGeom prst="straightConnector1">
              <a:avLst/>
            </a:prstGeom>
            <a:noFill/>
            <a:ln cap="flat" cmpd="sng" w="127000">
              <a:solidFill>
                <a:srgbClr val="15762B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255" name="Google Shape;255;p8"/>
            <p:cNvGrpSpPr/>
            <p:nvPr/>
          </p:nvGrpSpPr>
          <p:grpSpPr>
            <a:xfrm>
              <a:off x="8845075" y="-192882"/>
              <a:ext cx="4862999" cy="721262"/>
              <a:chOff x="0" y="-38100"/>
              <a:chExt cx="960592" cy="142471"/>
            </a:xfrm>
          </p:grpSpPr>
          <p:sp>
            <p:nvSpPr>
              <p:cNvPr id="256" name="Google Shape;256;p8"/>
              <p:cNvSpPr/>
              <p:nvPr/>
            </p:nvSpPr>
            <p:spPr>
              <a:xfrm>
                <a:off x="0" y="0"/>
                <a:ext cx="960592" cy="104371"/>
              </a:xfrm>
              <a:custGeom>
                <a:rect b="b" l="l" r="r" t="t"/>
                <a:pathLst>
                  <a:path extrusionOk="0" h="104371" w="960592">
                    <a:moveTo>
                      <a:pt x="0" y="0"/>
                    </a:moveTo>
                    <a:lnTo>
                      <a:pt x="960592" y="0"/>
                    </a:lnTo>
                    <a:lnTo>
                      <a:pt x="960592" y="104371"/>
                    </a:lnTo>
                    <a:lnTo>
                      <a:pt x="0" y="10437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57" name="Google Shape;257;p8"/>
              <p:cNvSpPr txBox="1"/>
              <p:nvPr/>
            </p:nvSpPr>
            <p:spPr>
              <a:xfrm>
                <a:off x="0" y="-38100"/>
                <a:ext cx="960592" cy="1424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22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58" name="Google Shape;258;p8"/>
            <p:cNvSpPr txBox="1"/>
            <p:nvPr/>
          </p:nvSpPr>
          <p:spPr>
            <a:xfrm>
              <a:off x="8999457" y="35636"/>
              <a:ext cx="4708617" cy="4255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77" u="none" cap="none" strike="noStrike">
                  <a:solidFill>
                    <a:srgbClr val="000000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BUILD WITH </a:t>
              </a:r>
              <a:r>
                <a:rPr b="1" i="0" lang="en-US" sz="1877" u="none" cap="none" strike="noStrike">
                  <a:solidFill>
                    <a:srgbClr val="FF5C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भारत4.0</a:t>
              </a:r>
              <a:endParaRPr/>
            </a:p>
          </p:txBody>
        </p:sp>
        <p:cxnSp>
          <p:nvCxnSpPr>
            <p:cNvPr id="259" name="Google Shape;259;p8"/>
            <p:cNvCxnSpPr/>
            <p:nvPr/>
          </p:nvCxnSpPr>
          <p:spPr>
            <a:xfrm>
              <a:off x="0" y="264190"/>
              <a:ext cx="8845075" cy="0"/>
            </a:xfrm>
            <a:prstGeom prst="straightConnector1">
              <a:avLst/>
            </a:prstGeom>
            <a:noFill/>
            <a:ln cap="flat" cmpd="sng" w="127000">
              <a:solidFill>
                <a:srgbClr val="FF5C1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60" name="Google Shape;260;p8"/>
          <p:cNvSpPr/>
          <p:nvPr/>
        </p:nvSpPr>
        <p:spPr>
          <a:xfrm>
            <a:off x="9443814" y="71389"/>
            <a:ext cx="2442694" cy="1795778"/>
          </a:xfrm>
          <a:custGeom>
            <a:rect b="b" l="l" r="r" t="t"/>
            <a:pathLst>
              <a:path extrusionOk="0" h="1795778" w="2442694">
                <a:moveTo>
                  <a:pt x="0" y="0"/>
                </a:moveTo>
                <a:lnTo>
                  <a:pt x="2442694" y="0"/>
                </a:lnTo>
                <a:lnTo>
                  <a:pt x="2442694" y="1795778"/>
                </a:lnTo>
                <a:lnTo>
                  <a:pt x="0" y="17957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4341" l="0" r="0" t="-21680"/>
            </a:stretch>
          </a:blipFill>
          <a:ln>
            <a:noFill/>
          </a:ln>
        </p:spPr>
        <p:txBody>
          <a:bodyPr/>
          <a:p/>
        </p:txBody>
      </p:sp>
      <p:pic>
        <p:nvPicPr>
          <p:cNvPr id="261" name="Google Shape;261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57738" y="83378"/>
            <a:ext cx="1393754" cy="1672504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Rounded Rectangle 261"/>
          <p:cNvSpPr/>
          <p:nvPr/>
        </p:nvSpPr>
        <p:spPr>
          <a:xfrm>
            <a:off x="832104" y="3291840"/>
            <a:ext cx="9692640" cy="6035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TextBox 262"/>
          <p:cNvSpPr txBox="1"/>
          <p:nvPr/>
        </p:nvSpPr>
        <p:spPr>
          <a:xfrm>
            <a:off x="1152144" y="3474720"/>
            <a:ext cx="9052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1" i="0">
                <a:solidFill>
                  <a:srgbClr val="FF5C1F"/>
                </a:solidFill>
                <a:latin typeface="Calibri"/>
              </a:rPr>
              <a:t>References and tools</a:t>
            </a:r>
          </a:p>
        </p:txBody>
      </p:sp>
      <p:sp>
        <p:nvSpPr>
          <p:cNvPr id="264" name="TextBox 263"/>
          <p:cNvSpPr txBox="1"/>
          <p:nvPr/>
        </p:nvSpPr>
        <p:spPr>
          <a:xfrm>
            <a:off x="1152144" y="4114800"/>
            <a:ext cx="9052560" cy="5120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256032" indent="-256032">
              <a:spcAft>
                <a:spcPts val="1800"/>
              </a:spcAft>
              <a:buClr>
                <a:srgbClr val="FF5C1F"/>
              </a:buClr>
              <a:buChar char="•"/>
            </a:pPr>
            <a:r>
              <a:rPr sz="2200" b="1" i="0">
                <a:solidFill>
                  <a:srgbClr val="222222"/>
                </a:solidFill>
                <a:latin typeface="Calibri"/>
              </a:rPr>
              <a:t>Leaflet  </a:t>
            </a:r>
            <a:r>
              <a:rPr sz="2200" b="0" i="0">
                <a:solidFill>
                  <a:srgbClr val="555555"/>
                </a:solidFill>
                <a:latin typeface="Calibri"/>
              </a:rPr>
              <a:t>leafletjs.com — interactive maps</a:t>
            </a:r>
          </a:p>
          <a:p>
            <a:pPr algn="l" marL="256032" indent="-256032">
              <a:spcAft>
                <a:spcPts val="1800"/>
              </a:spcAft>
              <a:buClr>
                <a:srgbClr val="FF5C1F"/>
              </a:buClr>
              <a:buChar char="•"/>
            </a:pPr>
            <a:r>
              <a:rPr sz="2200" b="1" i="0">
                <a:solidFill>
                  <a:srgbClr val="222222"/>
                </a:solidFill>
                <a:latin typeface="Calibri"/>
              </a:rPr>
              <a:t>OpenStreetMap  </a:t>
            </a:r>
            <a:r>
              <a:rPr sz="2200" b="0" i="0">
                <a:solidFill>
                  <a:srgbClr val="555555"/>
                </a:solidFill>
                <a:latin typeface="Calibri"/>
              </a:rPr>
              <a:t>openstreetmap.org — map tiles and geodata</a:t>
            </a:r>
          </a:p>
          <a:p>
            <a:pPr algn="l" marL="256032" indent="-256032">
              <a:spcAft>
                <a:spcPts val="1800"/>
              </a:spcAft>
              <a:buClr>
                <a:srgbClr val="FF5C1F"/>
              </a:buClr>
              <a:buChar char="•"/>
            </a:pPr>
            <a:r>
              <a:rPr sz="2200" b="1" i="0">
                <a:solidFill>
                  <a:srgbClr val="222222"/>
                </a:solidFill>
                <a:latin typeface="Calibri"/>
              </a:rPr>
              <a:t>Google Gemini API  </a:t>
            </a:r>
            <a:r>
              <a:rPr sz="2200" b="0" i="0">
                <a:solidFill>
                  <a:srgbClr val="555555"/>
                </a:solidFill>
                <a:latin typeface="Calibri"/>
              </a:rPr>
              <a:t>ai.google.dev — vision and text analysis</a:t>
            </a:r>
          </a:p>
          <a:p>
            <a:pPr algn="l" marL="256032" indent="-256032">
              <a:spcAft>
                <a:spcPts val="1800"/>
              </a:spcAft>
              <a:buClr>
                <a:srgbClr val="FF5C1F"/>
              </a:buClr>
              <a:buChar char="•"/>
            </a:pPr>
            <a:r>
              <a:rPr sz="2200" b="1" i="0">
                <a:solidFill>
                  <a:srgbClr val="222222"/>
                </a:solidFill>
                <a:latin typeface="Calibri"/>
              </a:rPr>
              <a:t>OpenAI API  </a:t>
            </a:r>
            <a:r>
              <a:rPr sz="2200" b="0" i="0">
                <a:solidFill>
                  <a:srgbClr val="555555"/>
                </a:solidFill>
                <a:latin typeface="Calibri"/>
              </a:rPr>
              <a:t>platform.openai.com — alternate AI provider</a:t>
            </a:r>
          </a:p>
          <a:p>
            <a:pPr algn="l" marL="256032" indent="-256032">
              <a:spcAft>
                <a:spcPts val="1800"/>
              </a:spcAft>
              <a:buClr>
                <a:srgbClr val="FF5C1F"/>
              </a:buClr>
              <a:buChar char="•"/>
            </a:pPr>
            <a:r>
              <a:rPr sz="2200" b="1" i="0">
                <a:solidFill>
                  <a:srgbClr val="222222"/>
                </a:solidFill>
                <a:latin typeface="Calibri"/>
              </a:rPr>
              <a:t>Mongoose  </a:t>
            </a:r>
            <a:r>
              <a:rPr sz="2200" b="0" i="0">
                <a:solidFill>
                  <a:srgbClr val="555555"/>
                </a:solidFill>
                <a:latin typeface="Calibri"/>
              </a:rPr>
              <a:t>mongoosejs.com — data modeling</a:t>
            </a:r>
          </a:p>
          <a:p>
            <a:pPr algn="l" marL="256032" indent="-256032">
              <a:spcAft>
                <a:spcPts val="1800"/>
              </a:spcAft>
              <a:buClr>
                <a:srgbClr val="FF5C1F"/>
              </a:buClr>
              <a:buChar char="•"/>
            </a:pPr>
            <a:r>
              <a:rPr sz="2200" b="1" i="0">
                <a:solidFill>
                  <a:srgbClr val="222222"/>
                </a:solidFill>
                <a:latin typeface="Calibri"/>
              </a:rPr>
              <a:t>Recharts  </a:t>
            </a:r>
            <a:r>
              <a:rPr sz="2200" b="0" i="0">
                <a:solidFill>
                  <a:srgbClr val="555555"/>
                </a:solidFill>
                <a:latin typeface="Calibri"/>
              </a:rPr>
              <a:t>recharts.org — analytics charts</a:t>
            </a:r>
          </a:p>
          <a:p>
            <a:pPr algn="l" marL="256032" indent="-256032">
              <a:spcAft>
                <a:spcPts val="1800"/>
              </a:spcAft>
              <a:buClr>
                <a:srgbClr val="FF5C1F"/>
              </a:buClr>
              <a:buChar char="•"/>
            </a:pPr>
            <a:r>
              <a:rPr sz="2200" b="1" i="0">
                <a:solidFill>
                  <a:srgbClr val="222222"/>
                </a:solidFill>
                <a:latin typeface="Calibri"/>
              </a:rPr>
              <a:t>Smart Cities Mission  </a:t>
            </a:r>
            <a:r>
              <a:rPr sz="2200" b="0" i="0">
                <a:solidFill>
                  <a:srgbClr val="555555"/>
                </a:solidFill>
                <a:latin typeface="Calibri"/>
              </a:rPr>
              <a:t>smartcities.gov.in — national civic-tech context</a:t>
            </a:r>
          </a:p>
        </p:txBody>
      </p:sp>
      <p:sp>
        <p:nvSpPr>
          <p:cNvPr id="265" name="Rounded Rectangle 264"/>
          <p:cNvSpPr/>
          <p:nvPr/>
        </p:nvSpPr>
        <p:spPr>
          <a:xfrm>
            <a:off x="10890504" y="3291840"/>
            <a:ext cx="6583679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TextBox 265"/>
          <p:cNvSpPr txBox="1"/>
          <p:nvPr/>
        </p:nvSpPr>
        <p:spPr>
          <a:xfrm>
            <a:off x="11164824" y="3474720"/>
            <a:ext cx="6035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1" i="0">
                <a:solidFill>
                  <a:srgbClr val="15762B"/>
                </a:solidFill>
                <a:latin typeface="Calibri"/>
              </a:rPr>
              <a:t>GitHub repository</a:t>
            </a:r>
          </a:p>
        </p:txBody>
      </p:sp>
      <p:sp>
        <p:nvSpPr>
          <p:cNvPr id="267" name="TextBox 266"/>
          <p:cNvSpPr txBox="1"/>
          <p:nvPr/>
        </p:nvSpPr>
        <p:spPr>
          <a:xfrm>
            <a:off x="11164824" y="4114800"/>
            <a:ext cx="603504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 i="0">
                <a:solidFill>
                  <a:srgbClr val="FF5C1F"/>
                </a:solidFill>
                <a:latin typeface="Calibri"/>
              </a:rPr>
              <a:t>[add repository link]</a:t>
            </a:r>
          </a:p>
          <a:p>
            <a:pPr algn="l"/>
            <a:r>
              <a:rPr sz="1900" b="0" i="0">
                <a:solidFill>
                  <a:srgbClr val="555555"/>
                </a:solidFill>
                <a:latin typeface="Calibri"/>
              </a:rPr>
              <a:t>Full source: React client, Express API, AI services and seed data</a:t>
            </a:r>
          </a:p>
        </p:txBody>
      </p:sp>
      <p:sp>
        <p:nvSpPr>
          <p:cNvPr id="268" name="Rounded Rectangle 267"/>
          <p:cNvSpPr/>
          <p:nvPr/>
        </p:nvSpPr>
        <p:spPr>
          <a:xfrm>
            <a:off x="10890504" y="6309360"/>
            <a:ext cx="6583679" cy="3017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TextBox 268"/>
          <p:cNvSpPr txBox="1"/>
          <p:nvPr/>
        </p:nvSpPr>
        <p:spPr>
          <a:xfrm>
            <a:off x="11164824" y="6492240"/>
            <a:ext cx="6035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1" i="0">
                <a:solidFill>
                  <a:srgbClr val="15762B"/>
                </a:solidFill>
                <a:latin typeface="Calibri"/>
              </a:rPr>
              <a:t>Live demo (optional)</a:t>
            </a:r>
          </a:p>
        </p:txBody>
      </p:sp>
      <p:sp>
        <p:nvSpPr>
          <p:cNvPr id="270" name="TextBox 269"/>
          <p:cNvSpPr txBox="1"/>
          <p:nvPr/>
        </p:nvSpPr>
        <p:spPr>
          <a:xfrm>
            <a:off x="11164824" y="7132320"/>
            <a:ext cx="6035040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 i="0">
                <a:solidFill>
                  <a:srgbClr val="FF5C1F"/>
                </a:solidFill>
                <a:latin typeface="Calibri"/>
              </a:rPr>
              <a:t>[add demo link]</a:t>
            </a:r>
          </a:p>
          <a:p>
            <a:pPr algn="l"/>
            <a:r>
              <a:rPr sz="1900" b="0" i="0">
                <a:solidFill>
                  <a:srgbClr val="555555"/>
                </a:solidFill>
                <a:latin typeface="Calibri"/>
              </a:rPr>
              <a:t>Demo mode ships with seeded data for citizen, authority and admin roles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